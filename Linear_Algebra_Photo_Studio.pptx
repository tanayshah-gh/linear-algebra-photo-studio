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D5DD063-4833-5E4B-396D-B367C11B701B}">
          <p14:sldIdLst>
            <p14:sldId id="256"/>
          </p14:sldIdLst>
        </p14:section>
        <p14:section name="Idea" id="{E846E73B-6A8A-6819-5CC5-9F5D07F086EC}">
          <p14:sldIdLst>
            <p14:sldId id="257"/>
          </p14:sldIdLst>
        </p14:section>
        <p14:section name="Maths" id="{8F69F0F3-F3A0-250A-9F31-D06018D63038}">
          <p14:sldIdLst>
            <p14:sldId id="258"/>
          </p14:sldIdLst>
        </p14:section>
        <p14:section name="Edits" id="{5AAC1830-C7F1-DB5C-6FB7-5C88A7E49393}">
          <p14:sldIdLst>
            <p14:sldId id="259"/>
          </p14:sldIdLst>
        </p14:section>
        <p14:section name="Recovery" id="{8A068FAC-8F96-D9DE-B398-A34870DD59B0}">
          <p14:sldIdLst>
            <p14:sldId id="260"/>
          </p14:sldIdLst>
        </p14:section>
        <p14:section name="Results" id="{337E6DAD-386E-E4D3-C567-BBBE6B188B6C}">
          <p14:sldIdLst>
            <p14:sldId id="261"/>
          </p14:sldIdLst>
        </p14:section>
        <p14:section name="Wrap-up" id="{3E5B4B20-7699-77FD-CEA6-EDC40E5632D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924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matrix multiplication, inversion and photo filters. The idea in one line: a photo is a matrix, so every edit is a matrix operation, and undoing it is a matrix inverse.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load photo as array, apply M, optionally apply M inverse. Whether the recovered photo matches the original depends on the matrix. That is the core of the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Determinant answers does an inverse exist; condition number answers can I trust it. The bad matrix is invertible but nearly singular, so a 0.0001 change in b moves the answer by a whole unit.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examples on one pixel and one 3x3 patch. These are exactly the operations applied to every pixel of a real photo. Convolution flips the kernel, so Sobel prints -760; the sign disappears in the edge magnitude.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matrix idea, four different fates. Both noisy images look identical to the eye, yet one recovers cleanly and the other turns to static. Clipping and cropping lose information that no inverse can restore.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Deblurring uses a 16x16 grayscale image so the blur matrix is 256x256. Plain inversion explodes with noise; ridge (T'T + lambda I)^-1 T'y fixes it. Our code matches NumPy to 1e-14 but is much slower, and less accurate than LAPACK on very ill-conditioned matrices such as Hilbert n=10.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One-paragraph answer: we treat a photo as a matrix and filters as matrix operations, undo them with a hand-written Gauss-Jordan inverse, and use the determinant and condition number to explain when that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6766560" cy="155448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6766560" cy="1554480"/>
          </a:xfrm>
          <a:prstGeom prst="rect">
            <a:avLst/>
          </a:prstGeom>
          <a:noFill/>
          <a:ln/>
        </p:spPr>
        <p:txBody>
          <a:bodyPr wrap="square" lIns="0" tIns="0" rIns="0" bIns="0" rtlCol="0" anchor="ctr"/>
          <a:lstStyle/>
          <a:p>
            <a:pPr marL="0" indent="0" algn="l">
              <a:buNone/>
            </a:pPr>
            <a:r>
              <a:rPr lang="en-US" sz="4600" b="1" dirty="0">
                <a:solidFill>
                  <a:schemeClr val="bg1"/>
                </a:solidFill>
              </a:rPr>
              <a:t>Linear Algebra Photo Studio</a:t>
            </a:r>
            <a:endParaRPr lang="en-US" sz="4600" dirty="0"/>
          </a:p>
        </p:txBody>
      </p:sp>
      <p:sp>
        <p:nvSpPr>
          <p:cNvPr id="3" name="Text 1"/>
          <p:cNvSpPr txBox="1"/>
          <p:nvPr/>
        </p:nvSpPr>
        <p:spPr>
          <a:xfrm>
            <a:off x="548640" y="3383280"/>
            <a:ext cx="6766560" cy="548640"/>
          </a:xfrm>
          <a:prstGeom prst="rect">
            <a:avLst/>
          </a:prstGeom>
          <a:noFill/>
          <a:ln/>
        </p:spPr>
        <p:txBody>
          <a:bodyPr wrap="square" lIns="0" tIns="0" rIns="0" bIns="0" rtlCol="0" anchor="t"/>
          <a:lstStyle/>
          <a:p>
            <a:pPr marL="0" indent="0">
              <a:buNone/>
            </a:pPr>
            <a:r>
              <a:rPr lang="en-US" sz="2400" dirty="0">
                <a:solidFill>
                  <a:schemeClr val="accent5"/>
                </a:solidFill>
              </a:rPr>
              <a:t>Matrix multiplication, inversion and photo filters</a:t>
            </a:r>
            <a:endParaRPr lang="en-US" sz="2400" dirty="0"/>
          </a:p>
        </p:txBody>
      </p:sp>
      <p:sp>
        <p:nvSpPr>
          <p:cNvPr id="4" name="Text 2"/>
          <p:cNvSpPr txBox="1"/>
          <p:nvPr/>
        </p:nvSpPr>
        <p:spPr>
          <a:xfrm>
            <a:off x="548640" y="4206240"/>
            <a:ext cx="6766560" cy="822960"/>
          </a:xfrm>
          <a:prstGeom prst="rect">
            <a:avLst/>
          </a:prstGeom>
          <a:noFill/>
          <a:ln/>
        </p:spPr>
        <p:txBody>
          <a:bodyPr wrap="square" lIns="0" tIns="0" rIns="0" bIns="0" rtlCol="0" anchor="t"/>
          <a:lstStyle/>
          <a:p>
            <a:pPr marL="0" indent="0">
              <a:buNone/>
            </a:pPr>
            <a:r>
              <a:rPr lang="en-US" sz="1400" dirty="0">
                <a:solidFill>
                  <a:schemeClr val="bg2"/>
                </a:solidFill>
              </a:rPr>
              <a:t>UE25MA242A  |  Mathematical Foundation for AI &amp; Data Science (MFAD 2026)</a:t>
            </a:r>
            <a:endParaRPr lang="en-US" sz="1400" dirty="0"/>
          </a:p>
          <a:p>
            <a:pPr marL="0" indent="0">
              <a:buNone/>
            </a:pPr>
            <a:r>
              <a:rPr lang="en-US" sz="1400" dirty="0">
                <a:solidFill>
                  <a:schemeClr val="bg2"/>
                </a:solidFill>
              </a:rPr>
              <a:t>Experiential Learning Level 2  |  Orange Problem Mini Project</a:t>
            </a:r>
            <a:endParaRPr lang="en-US" sz="1400" dirty="0"/>
          </a:p>
        </p:txBody>
      </p:sp>
      <p:sp>
        <p:nvSpPr>
          <p:cNvPr id="5" name="Text 3"/>
          <p:cNvSpPr txBox="1"/>
          <p:nvPr/>
        </p:nvSpPr>
        <p:spPr>
          <a:xfrm>
            <a:off x="548640" y="5760720"/>
            <a:ext cx="6766560" cy="640080"/>
          </a:xfrm>
          <a:prstGeom prst="rect">
            <a:avLst/>
          </a:prstGeom>
          <a:noFill/>
          <a:ln/>
        </p:spPr>
        <p:txBody>
          <a:bodyPr wrap="square" lIns="0" tIns="0" rIns="0" bIns="0" rtlCol="0" anchor="t"/>
          <a:lstStyle/>
          <a:p>
            <a:pPr marL="0" indent="0">
              <a:buNone/>
            </a:pPr>
            <a:r>
              <a:rPr lang="en-US" sz="1400" dirty="0">
                <a:solidFill>
                  <a:schemeClr val="accent5"/>
                </a:solidFill>
              </a:rPr>
              <a:t>Team: Tanay Shah, Shriram Krishnan, Siddhant Chawla, Shyam Sooraj</a:t>
            </a:r>
            <a:endParaRPr lang="en-US" sz="1400" dirty="0"/>
          </a:p>
        </p:txBody>
      </p:sp>
      <p:sp>
        <p:nvSpPr>
          <p:cNvPr id="6" name="pixel-0-0"/>
          <p:cNvSpPr/>
          <p:nvPr/>
        </p:nvSpPr>
        <p:spPr>
          <a:xfrm>
            <a:off x="7863840" y="1463040"/>
            <a:ext cx="640080" cy="640080"/>
          </a:xfrm>
          <a:prstGeom prst="roundRect">
            <a:avLst>
              <a:gd name="adj" fmla="val 11429"/>
            </a:avLst>
          </a:prstGeom>
          <a:solidFill>
            <a:schemeClr val="accent1">
              <a:alpha val="90000"/>
            </a:schemeClr>
          </a:solidFill>
          <a:ln/>
        </p:spPr>
      </p:sp>
      <p:sp>
        <p:nvSpPr>
          <p:cNvPr id="7" name="pixel-0-1"/>
          <p:cNvSpPr/>
          <p:nvPr/>
        </p:nvSpPr>
        <p:spPr>
          <a:xfrm>
            <a:off x="8613648" y="1463040"/>
            <a:ext cx="640080" cy="640080"/>
          </a:xfrm>
          <a:prstGeom prst="roundRect">
            <a:avLst>
              <a:gd name="adj" fmla="val 11429"/>
            </a:avLst>
          </a:prstGeom>
          <a:solidFill>
            <a:schemeClr val="accent4">
              <a:alpha val="65000"/>
            </a:schemeClr>
          </a:solidFill>
          <a:ln/>
        </p:spPr>
      </p:sp>
      <p:sp>
        <p:nvSpPr>
          <p:cNvPr id="8" name="pixel-0-2"/>
          <p:cNvSpPr/>
          <p:nvPr/>
        </p:nvSpPr>
        <p:spPr>
          <a:xfrm>
            <a:off x="9363456" y="1463040"/>
            <a:ext cx="640080" cy="640080"/>
          </a:xfrm>
          <a:prstGeom prst="roundRect">
            <a:avLst>
              <a:gd name="adj" fmla="val 11429"/>
            </a:avLst>
          </a:prstGeom>
          <a:solidFill>
            <a:schemeClr val="accent4">
              <a:alpha val="50000"/>
            </a:schemeClr>
          </a:solidFill>
          <a:ln/>
        </p:spPr>
      </p:sp>
      <p:sp>
        <p:nvSpPr>
          <p:cNvPr id="9" name="pixel-0-3"/>
          <p:cNvSpPr/>
          <p:nvPr/>
        </p:nvSpPr>
        <p:spPr>
          <a:xfrm>
            <a:off x="10113264" y="1463040"/>
            <a:ext cx="640080" cy="640080"/>
          </a:xfrm>
          <a:prstGeom prst="roundRect">
            <a:avLst>
              <a:gd name="adj" fmla="val 11429"/>
            </a:avLst>
          </a:prstGeom>
          <a:solidFill>
            <a:schemeClr val="accent1">
              <a:alpha val="90000"/>
            </a:schemeClr>
          </a:solidFill>
          <a:ln/>
        </p:spPr>
      </p:sp>
      <p:sp>
        <p:nvSpPr>
          <p:cNvPr id="10" name="pixel-0-4"/>
          <p:cNvSpPr/>
          <p:nvPr/>
        </p:nvSpPr>
        <p:spPr>
          <a:xfrm>
            <a:off x="10863072" y="1463040"/>
            <a:ext cx="640080" cy="640080"/>
          </a:xfrm>
          <a:prstGeom prst="roundRect">
            <a:avLst>
              <a:gd name="adj" fmla="val 11429"/>
            </a:avLst>
          </a:prstGeom>
          <a:solidFill>
            <a:schemeClr val="accent4">
              <a:alpha val="80000"/>
            </a:schemeClr>
          </a:solidFill>
          <a:ln/>
        </p:spPr>
      </p:sp>
      <p:sp>
        <p:nvSpPr>
          <p:cNvPr id="11" name="pixel-1-0"/>
          <p:cNvSpPr/>
          <p:nvPr/>
        </p:nvSpPr>
        <p:spPr>
          <a:xfrm>
            <a:off x="7863840" y="2212848"/>
            <a:ext cx="640080" cy="640080"/>
          </a:xfrm>
          <a:prstGeom prst="roundRect">
            <a:avLst>
              <a:gd name="adj" fmla="val 11429"/>
            </a:avLst>
          </a:prstGeom>
          <a:solidFill>
            <a:schemeClr val="accent4">
              <a:alpha val="65000"/>
            </a:schemeClr>
          </a:solidFill>
          <a:ln/>
        </p:spPr>
      </p:sp>
      <p:sp>
        <p:nvSpPr>
          <p:cNvPr id="12" name="pixel-1-1"/>
          <p:cNvSpPr/>
          <p:nvPr/>
        </p:nvSpPr>
        <p:spPr>
          <a:xfrm>
            <a:off x="8613648" y="2212848"/>
            <a:ext cx="640080" cy="640080"/>
          </a:xfrm>
          <a:prstGeom prst="roundRect">
            <a:avLst>
              <a:gd name="adj" fmla="val 11429"/>
            </a:avLst>
          </a:prstGeom>
          <a:solidFill>
            <a:schemeClr val="accent1">
              <a:alpha val="90000"/>
            </a:schemeClr>
          </a:solidFill>
          <a:ln/>
        </p:spPr>
      </p:sp>
      <p:sp>
        <p:nvSpPr>
          <p:cNvPr id="13" name="pixel-1-2"/>
          <p:cNvSpPr/>
          <p:nvPr/>
        </p:nvSpPr>
        <p:spPr>
          <a:xfrm>
            <a:off x="9363456" y="2212848"/>
            <a:ext cx="640080" cy="640080"/>
          </a:xfrm>
          <a:prstGeom prst="roundRect">
            <a:avLst>
              <a:gd name="adj" fmla="val 11429"/>
            </a:avLst>
          </a:prstGeom>
          <a:solidFill>
            <a:schemeClr val="accent4">
              <a:alpha val="35000"/>
            </a:schemeClr>
          </a:solidFill>
          <a:ln/>
        </p:spPr>
      </p:sp>
      <p:sp>
        <p:nvSpPr>
          <p:cNvPr id="14" name="pixel-1-3"/>
          <p:cNvSpPr/>
          <p:nvPr/>
        </p:nvSpPr>
        <p:spPr>
          <a:xfrm>
            <a:off x="10113264" y="2212848"/>
            <a:ext cx="640080" cy="640080"/>
          </a:xfrm>
          <a:prstGeom prst="roundRect">
            <a:avLst>
              <a:gd name="adj" fmla="val 11429"/>
            </a:avLst>
          </a:prstGeom>
          <a:solidFill>
            <a:schemeClr val="accent4">
              <a:alpha val="80000"/>
            </a:schemeClr>
          </a:solidFill>
          <a:ln/>
        </p:spPr>
      </p:sp>
      <p:sp>
        <p:nvSpPr>
          <p:cNvPr id="15" name="pixel-1-4"/>
          <p:cNvSpPr/>
          <p:nvPr/>
        </p:nvSpPr>
        <p:spPr>
          <a:xfrm>
            <a:off x="10863072" y="2212848"/>
            <a:ext cx="640080" cy="640080"/>
          </a:xfrm>
          <a:prstGeom prst="roundRect">
            <a:avLst>
              <a:gd name="adj" fmla="val 11429"/>
            </a:avLst>
          </a:prstGeom>
          <a:solidFill>
            <a:schemeClr val="accent1">
              <a:alpha val="90000"/>
            </a:schemeClr>
          </a:solidFill>
          <a:ln/>
        </p:spPr>
      </p:sp>
      <p:sp>
        <p:nvSpPr>
          <p:cNvPr id="16" name="pixel-2-0"/>
          <p:cNvSpPr/>
          <p:nvPr/>
        </p:nvSpPr>
        <p:spPr>
          <a:xfrm>
            <a:off x="7863840" y="2962656"/>
            <a:ext cx="640080" cy="640080"/>
          </a:xfrm>
          <a:prstGeom prst="roundRect">
            <a:avLst>
              <a:gd name="adj" fmla="val 11429"/>
            </a:avLst>
          </a:prstGeom>
          <a:solidFill>
            <a:schemeClr val="accent4">
              <a:alpha val="50000"/>
            </a:schemeClr>
          </a:solidFill>
          <a:ln/>
        </p:spPr>
      </p:sp>
      <p:sp>
        <p:nvSpPr>
          <p:cNvPr id="17" name="pixel-2-1"/>
          <p:cNvSpPr/>
          <p:nvPr/>
        </p:nvSpPr>
        <p:spPr>
          <a:xfrm>
            <a:off x="8613648" y="2962656"/>
            <a:ext cx="640080" cy="640080"/>
          </a:xfrm>
          <a:prstGeom prst="roundRect">
            <a:avLst>
              <a:gd name="adj" fmla="val 11429"/>
            </a:avLst>
          </a:prstGeom>
          <a:solidFill>
            <a:schemeClr val="accent4">
              <a:alpha val="35000"/>
            </a:schemeClr>
          </a:solidFill>
          <a:ln/>
        </p:spPr>
      </p:sp>
      <p:sp>
        <p:nvSpPr>
          <p:cNvPr id="18" name="pixel-2-2"/>
          <p:cNvSpPr/>
          <p:nvPr/>
        </p:nvSpPr>
        <p:spPr>
          <a:xfrm>
            <a:off x="9363456" y="2962656"/>
            <a:ext cx="640080" cy="640080"/>
          </a:xfrm>
          <a:prstGeom prst="roundRect">
            <a:avLst>
              <a:gd name="adj" fmla="val 11429"/>
            </a:avLst>
          </a:prstGeom>
          <a:solidFill>
            <a:schemeClr val="accent1">
              <a:alpha val="90000"/>
            </a:schemeClr>
          </a:solidFill>
          <a:ln/>
        </p:spPr>
      </p:sp>
      <p:sp>
        <p:nvSpPr>
          <p:cNvPr id="19" name="pixel-2-3"/>
          <p:cNvSpPr/>
          <p:nvPr/>
        </p:nvSpPr>
        <p:spPr>
          <a:xfrm>
            <a:off x="10113264" y="2962656"/>
            <a:ext cx="640080" cy="640080"/>
          </a:xfrm>
          <a:prstGeom prst="roundRect">
            <a:avLst>
              <a:gd name="adj" fmla="val 11429"/>
            </a:avLst>
          </a:prstGeom>
          <a:solidFill>
            <a:schemeClr val="accent4">
              <a:alpha val="65000"/>
            </a:schemeClr>
          </a:solidFill>
          <a:ln/>
        </p:spPr>
      </p:sp>
      <p:sp>
        <p:nvSpPr>
          <p:cNvPr id="20" name="pixel-2-4"/>
          <p:cNvSpPr/>
          <p:nvPr/>
        </p:nvSpPr>
        <p:spPr>
          <a:xfrm>
            <a:off x="10863072" y="2962656"/>
            <a:ext cx="640080" cy="640080"/>
          </a:xfrm>
          <a:prstGeom prst="roundRect">
            <a:avLst>
              <a:gd name="adj" fmla="val 11429"/>
            </a:avLst>
          </a:prstGeom>
          <a:solidFill>
            <a:schemeClr val="accent4">
              <a:alpha val="50000"/>
            </a:schemeClr>
          </a:solidFill>
          <a:ln/>
        </p:spPr>
      </p:sp>
      <p:sp>
        <p:nvSpPr>
          <p:cNvPr id="21" name="pixel-3-0"/>
          <p:cNvSpPr/>
          <p:nvPr/>
        </p:nvSpPr>
        <p:spPr>
          <a:xfrm>
            <a:off x="7863840" y="3712464"/>
            <a:ext cx="640080" cy="640080"/>
          </a:xfrm>
          <a:prstGeom prst="roundRect">
            <a:avLst>
              <a:gd name="adj" fmla="val 11429"/>
            </a:avLst>
          </a:prstGeom>
          <a:solidFill>
            <a:schemeClr val="accent1">
              <a:alpha val="90000"/>
            </a:schemeClr>
          </a:solidFill>
          <a:ln/>
        </p:spPr>
      </p:sp>
      <p:sp>
        <p:nvSpPr>
          <p:cNvPr id="22" name="pixel-3-1"/>
          <p:cNvSpPr/>
          <p:nvPr/>
        </p:nvSpPr>
        <p:spPr>
          <a:xfrm>
            <a:off x="8613648" y="3712464"/>
            <a:ext cx="640080" cy="640080"/>
          </a:xfrm>
          <a:prstGeom prst="roundRect">
            <a:avLst>
              <a:gd name="adj" fmla="val 11429"/>
            </a:avLst>
          </a:prstGeom>
          <a:solidFill>
            <a:schemeClr val="accent4">
              <a:alpha val="80000"/>
            </a:schemeClr>
          </a:solidFill>
          <a:ln/>
        </p:spPr>
      </p:sp>
      <p:sp>
        <p:nvSpPr>
          <p:cNvPr id="23" name="pixel-3-2"/>
          <p:cNvSpPr/>
          <p:nvPr/>
        </p:nvSpPr>
        <p:spPr>
          <a:xfrm>
            <a:off x="9363456" y="3712464"/>
            <a:ext cx="640080" cy="640080"/>
          </a:xfrm>
          <a:prstGeom prst="roundRect">
            <a:avLst>
              <a:gd name="adj" fmla="val 11429"/>
            </a:avLst>
          </a:prstGeom>
          <a:solidFill>
            <a:schemeClr val="accent4">
              <a:alpha val="65000"/>
            </a:schemeClr>
          </a:solidFill>
          <a:ln/>
        </p:spPr>
      </p:sp>
      <p:sp>
        <p:nvSpPr>
          <p:cNvPr id="24" name="pixel-3-3"/>
          <p:cNvSpPr/>
          <p:nvPr/>
        </p:nvSpPr>
        <p:spPr>
          <a:xfrm>
            <a:off x="10113264" y="3712464"/>
            <a:ext cx="640080" cy="640080"/>
          </a:xfrm>
          <a:prstGeom prst="roundRect">
            <a:avLst>
              <a:gd name="adj" fmla="val 11429"/>
            </a:avLst>
          </a:prstGeom>
          <a:solidFill>
            <a:schemeClr val="accent1">
              <a:alpha val="90000"/>
            </a:schemeClr>
          </a:solidFill>
          <a:ln/>
        </p:spPr>
      </p:sp>
      <p:sp>
        <p:nvSpPr>
          <p:cNvPr id="25" name="pixel-3-4"/>
          <p:cNvSpPr/>
          <p:nvPr/>
        </p:nvSpPr>
        <p:spPr>
          <a:xfrm>
            <a:off x="10863072" y="3712464"/>
            <a:ext cx="640080" cy="640080"/>
          </a:xfrm>
          <a:prstGeom prst="roundRect">
            <a:avLst>
              <a:gd name="adj" fmla="val 11429"/>
            </a:avLst>
          </a:prstGeom>
          <a:solidFill>
            <a:schemeClr val="accent4">
              <a:alpha val="35000"/>
            </a:schemeClr>
          </a:solidFill>
          <a:ln/>
        </p:spPr>
      </p:sp>
      <p:sp>
        <p:nvSpPr>
          <p:cNvPr id="26" name="pixel-4-0"/>
          <p:cNvSpPr/>
          <p:nvPr/>
        </p:nvSpPr>
        <p:spPr>
          <a:xfrm>
            <a:off x="7863840" y="4462272"/>
            <a:ext cx="640080" cy="640080"/>
          </a:xfrm>
          <a:prstGeom prst="roundRect">
            <a:avLst>
              <a:gd name="adj" fmla="val 11429"/>
            </a:avLst>
          </a:prstGeom>
          <a:solidFill>
            <a:schemeClr val="accent4">
              <a:alpha val="80000"/>
            </a:schemeClr>
          </a:solidFill>
          <a:ln/>
        </p:spPr>
      </p:sp>
      <p:sp>
        <p:nvSpPr>
          <p:cNvPr id="27" name="pixel-4-1"/>
          <p:cNvSpPr/>
          <p:nvPr/>
        </p:nvSpPr>
        <p:spPr>
          <a:xfrm>
            <a:off x="8613648" y="4462272"/>
            <a:ext cx="640080" cy="640080"/>
          </a:xfrm>
          <a:prstGeom prst="roundRect">
            <a:avLst>
              <a:gd name="adj" fmla="val 11429"/>
            </a:avLst>
          </a:prstGeom>
          <a:solidFill>
            <a:schemeClr val="accent1">
              <a:alpha val="90000"/>
            </a:schemeClr>
          </a:solidFill>
          <a:ln/>
        </p:spPr>
      </p:sp>
      <p:sp>
        <p:nvSpPr>
          <p:cNvPr id="28" name="pixel-4-2"/>
          <p:cNvSpPr/>
          <p:nvPr/>
        </p:nvSpPr>
        <p:spPr>
          <a:xfrm>
            <a:off x="9363456" y="4462272"/>
            <a:ext cx="640080" cy="640080"/>
          </a:xfrm>
          <a:prstGeom prst="roundRect">
            <a:avLst>
              <a:gd name="adj" fmla="val 11429"/>
            </a:avLst>
          </a:prstGeom>
          <a:solidFill>
            <a:schemeClr val="accent4">
              <a:alpha val="50000"/>
            </a:schemeClr>
          </a:solidFill>
          <a:ln/>
        </p:spPr>
      </p:sp>
      <p:sp>
        <p:nvSpPr>
          <p:cNvPr id="29" name="pixel-4-3"/>
          <p:cNvSpPr/>
          <p:nvPr/>
        </p:nvSpPr>
        <p:spPr>
          <a:xfrm>
            <a:off x="10113264" y="4462272"/>
            <a:ext cx="640080" cy="640080"/>
          </a:xfrm>
          <a:prstGeom prst="roundRect">
            <a:avLst>
              <a:gd name="adj" fmla="val 11429"/>
            </a:avLst>
          </a:prstGeom>
          <a:solidFill>
            <a:schemeClr val="accent4">
              <a:alpha val="35000"/>
            </a:schemeClr>
          </a:solidFill>
          <a:ln/>
        </p:spPr>
      </p:sp>
      <p:sp>
        <p:nvSpPr>
          <p:cNvPr id="30" name="pixel-4-4"/>
          <p:cNvSpPr/>
          <p:nvPr/>
        </p:nvSpPr>
        <p:spPr>
          <a:xfrm>
            <a:off x="10863072" y="4462272"/>
            <a:ext cx="640080" cy="640080"/>
          </a:xfrm>
          <a:prstGeom prst="roundRect">
            <a:avLst>
              <a:gd name="adj" fmla="val 11429"/>
            </a:avLst>
          </a:prstGeom>
          <a:solidFill>
            <a:schemeClr val="accent1">
              <a:alpha val="90000"/>
            </a:schemeClr>
          </a:solidFill>
          <a:ln/>
        </p:spPr>
      </p:sp>
      <p:sp>
        <p:nvSpPr>
          <p:cNvPr id="31" name="Text 29"/>
          <p:cNvSpPr txBox="1"/>
          <p:nvPr/>
        </p:nvSpPr>
        <p:spPr>
          <a:xfrm>
            <a:off x="7863840" y="5394960"/>
            <a:ext cx="3749040" cy="365760"/>
          </a:xfrm>
          <a:prstGeom prst="rect">
            <a:avLst/>
          </a:prstGeom>
          <a:noFill/>
          <a:ln/>
        </p:spPr>
        <p:txBody>
          <a:bodyPr wrap="square" lIns="0" tIns="0" rIns="0" bIns="0" rtlCol="0" anchor="t"/>
          <a:lstStyle/>
          <a:p>
            <a:pPr marL="0" indent="0">
              <a:buNone/>
            </a:pPr>
            <a:r>
              <a:rPr lang="en-US" sz="1400" i="1" dirty="0">
                <a:solidFill>
                  <a:schemeClr val="bg2"/>
                </a:solidFill>
              </a:rPr>
              <a:t>a photo = a grid of numbers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200" b="1" dirty="0">
                <a:solidFill>
                  <a:schemeClr val="tx1"/>
                </a:solidFill>
              </a:rPr>
              <a:t>A photo is a matrix; every edit is a matrix product</a:t>
            </a:r>
            <a:endParaRPr lang="en-US" sz="3200" dirty="0"/>
          </a:p>
        </p:txBody>
      </p:sp>
      <p:sp>
        <p:nvSpPr>
          <p:cNvPr id="3" name="step-0"/>
          <p:cNvSpPr/>
          <p:nvPr/>
        </p:nvSpPr>
        <p:spPr>
          <a:xfrm>
            <a:off x="548640" y="1645920"/>
            <a:ext cx="1828800" cy="1188720"/>
          </a:xfrm>
          <a:prstGeom prst="roundRect">
            <a:avLst>
              <a:gd name="adj" fmla="val 9231"/>
            </a:avLst>
          </a:prstGeom>
          <a:solidFill>
            <a:schemeClr val="accent4"/>
          </a:solidFill>
          <a:ln/>
        </p:spPr>
      </p:sp>
      <p:sp>
        <p:nvSpPr>
          <p:cNvPr id="4" name="Text 2"/>
          <p:cNvSpPr txBox="1"/>
          <p:nvPr/>
        </p:nvSpPr>
        <p:spPr>
          <a:xfrm>
            <a:off x="548640" y="1828800"/>
            <a:ext cx="1828800" cy="457200"/>
          </a:xfrm>
          <a:prstGeom prst="rect">
            <a:avLst/>
          </a:prstGeom>
          <a:noFill/>
          <a:ln/>
        </p:spPr>
        <p:txBody>
          <a:bodyPr wrap="square" lIns="0" tIns="0" rIns="0" bIns="0" rtlCol="0" anchor="t"/>
          <a:lstStyle/>
          <a:p>
            <a:pPr marL="0" indent="0" algn="ctr">
              <a:buNone/>
            </a:pPr>
            <a:r>
              <a:rPr lang="en-US" sz="2000" b="1" dirty="0">
                <a:solidFill>
                  <a:schemeClr val="bg1"/>
                </a:solidFill>
              </a:rPr>
              <a:t>Photo</a:t>
            </a:r>
            <a:endParaRPr lang="en-US" sz="2000" dirty="0"/>
          </a:p>
        </p:txBody>
      </p:sp>
      <p:sp>
        <p:nvSpPr>
          <p:cNvPr id="5" name="Text 3"/>
          <p:cNvSpPr txBox="1"/>
          <p:nvPr/>
        </p:nvSpPr>
        <p:spPr>
          <a:xfrm>
            <a:off x="548640" y="2331720"/>
            <a:ext cx="1828800" cy="365760"/>
          </a:xfrm>
          <a:prstGeom prst="rect">
            <a:avLst/>
          </a:prstGeom>
          <a:noFill/>
          <a:ln/>
        </p:spPr>
        <p:txBody>
          <a:bodyPr wrap="square" lIns="0" tIns="0" rIns="0" bIns="0" rtlCol="0" anchor="t"/>
          <a:lstStyle/>
          <a:p>
            <a:pPr marL="0" indent="0" algn="ctr">
              <a:buNone/>
            </a:pPr>
            <a:r>
              <a:rPr lang="en-US" sz="1400" dirty="0">
                <a:solidFill>
                  <a:schemeClr val="bg1"/>
                </a:solidFill>
              </a:rPr>
              <a:t>H × W × 3 array</a:t>
            </a:r>
            <a:endParaRPr lang="en-US" sz="1400" dirty="0"/>
          </a:p>
        </p:txBody>
      </p:sp>
      <p:sp>
        <p:nvSpPr>
          <p:cNvPr id="6" name="Shape 4"/>
          <p:cNvSpPr/>
          <p:nvPr/>
        </p:nvSpPr>
        <p:spPr>
          <a:xfrm>
            <a:off x="2441448" y="2103120"/>
            <a:ext cx="347472" cy="274320"/>
          </a:xfrm>
          <a:prstGeom prst="rightArrow">
            <a:avLst/>
          </a:prstGeom>
          <a:solidFill>
            <a:schemeClr val="accent6"/>
          </a:solidFill>
          <a:ln/>
        </p:spPr>
      </p:sp>
      <p:sp>
        <p:nvSpPr>
          <p:cNvPr id="7" name="step-1"/>
          <p:cNvSpPr/>
          <p:nvPr/>
        </p:nvSpPr>
        <p:spPr>
          <a:xfrm>
            <a:off x="2862072" y="1645920"/>
            <a:ext cx="1828800" cy="1188720"/>
          </a:xfrm>
          <a:prstGeom prst="roundRect">
            <a:avLst>
              <a:gd name="adj" fmla="val 9231"/>
            </a:avLst>
          </a:prstGeom>
          <a:solidFill>
            <a:schemeClr val="accent1"/>
          </a:solidFill>
          <a:ln/>
        </p:spPr>
      </p:sp>
      <p:sp>
        <p:nvSpPr>
          <p:cNvPr id="8" name="Text 6"/>
          <p:cNvSpPr txBox="1"/>
          <p:nvPr/>
        </p:nvSpPr>
        <p:spPr>
          <a:xfrm>
            <a:off x="2862072" y="1828800"/>
            <a:ext cx="1828800" cy="457200"/>
          </a:xfrm>
          <a:prstGeom prst="rect">
            <a:avLst/>
          </a:prstGeom>
          <a:noFill/>
          <a:ln/>
        </p:spPr>
        <p:txBody>
          <a:bodyPr wrap="square" lIns="0" tIns="0" rIns="0" bIns="0" rtlCol="0" anchor="t"/>
          <a:lstStyle/>
          <a:p>
            <a:pPr marL="0" indent="0" algn="ctr">
              <a:buNone/>
            </a:pPr>
            <a:r>
              <a:rPr lang="en-US" sz="2000" b="1" dirty="0">
                <a:solidFill>
                  <a:schemeClr val="bg1"/>
                </a:solidFill>
              </a:rPr>
              <a:t>Edit</a:t>
            </a:r>
            <a:endParaRPr lang="en-US" sz="2000" dirty="0"/>
          </a:p>
        </p:txBody>
      </p:sp>
      <p:sp>
        <p:nvSpPr>
          <p:cNvPr id="9" name="Text 7"/>
          <p:cNvSpPr txBox="1"/>
          <p:nvPr/>
        </p:nvSpPr>
        <p:spPr>
          <a:xfrm>
            <a:off x="2862072" y="2331720"/>
            <a:ext cx="1828800" cy="365760"/>
          </a:xfrm>
          <a:prstGeom prst="rect">
            <a:avLst/>
          </a:prstGeom>
          <a:noFill/>
          <a:ln/>
        </p:spPr>
        <p:txBody>
          <a:bodyPr wrap="square" lIns="0" tIns="0" rIns="0" bIns="0" rtlCol="0" anchor="t"/>
          <a:lstStyle/>
          <a:p>
            <a:pPr marL="0" indent="0" algn="ctr">
              <a:buNone/>
            </a:pPr>
            <a:r>
              <a:rPr lang="en-US" sz="1400" dirty="0">
                <a:solidFill>
                  <a:schemeClr val="bg1"/>
                </a:solidFill>
              </a:rPr>
              <a:t>M × pixel</a:t>
            </a:r>
            <a:endParaRPr lang="en-US" sz="1400" dirty="0"/>
          </a:p>
        </p:txBody>
      </p:sp>
      <p:sp>
        <p:nvSpPr>
          <p:cNvPr id="10" name="Shape 8"/>
          <p:cNvSpPr/>
          <p:nvPr/>
        </p:nvSpPr>
        <p:spPr>
          <a:xfrm>
            <a:off x="4754880" y="2103120"/>
            <a:ext cx="347472" cy="274320"/>
          </a:xfrm>
          <a:prstGeom prst="rightArrow">
            <a:avLst/>
          </a:prstGeom>
          <a:solidFill>
            <a:schemeClr val="accent6"/>
          </a:solidFill>
          <a:ln/>
        </p:spPr>
      </p:sp>
      <p:sp>
        <p:nvSpPr>
          <p:cNvPr id="11" name="step-2"/>
          <p:cNvSpPr/>
          <p:nvPr/>
        </p:nvSpPr>
        <p:spPr>
          <a:xfrm>
            <a:off x="5175504" y="1645920"/>
            <a:ext cx="1828800" cy="1188720"/>
          </a:xfrm>
          <a:prstGeom prst="roundRect">
            <a:avLst>
              <a:gd name="adj" fmla="val 9231"/>
            </a:avLst>
          </a:prstGeom>
          <a:solidFill>
            <a:schemeClr val="accent4"/>
          </a:solidFill>
          <a:ln/>
        </p:spPr>
      </p:sp>
      <p:sp>
        <p:nvSpPr>
          <p:cNvPr id="12" name="Text 10"/>
          <p:cNvSpPr txBox="1"/>
          <p:nvPr/>
        </p:nvSpPr>
        <p:spPr>
          <a:xfrm>
            <a:off x="5175504" y="1828800"/>
            <a:ext cx="1828800" cy="457200"/>
          </a:xfrm>
          <a:prstGeom prst="rect">
            <a:avLst/>
          </a:prstGeom>
          <a:noFill/>
          <a:ln/>
        </p:spPr>
        <p:txBody>
          <a:bodyPr wrap="square" lIns="0" tIns="0" rIns="0" bIns="0" rtlCol="0" anchor="t"/>
          <a:lstStyle/>
          <a:p>
            <a:pPr marL="0" indent="0" algn="ctr">
              <a:buNone/>
            </a:pPr>
            <a:r>
              <a:rPr lang="en-US" sz="2000" b="1" dirty="0">
                <a:solidFill>
                  <a:schemeClr val="bg1"/>
                </a:solidFill>
              </a:rPr>
              <a:t>Edited photo</a:t>
            </a:r>
            <a:endParaRPr lang="en-US" sz="2000" dirty="0"/>
          </a:p>
        </p:txBody>
      </p:sp>
      <p:sp>
        <p:nvSpPr>
          <p:cNvPr id="13" name="Text 11"/>
          <p:cNvSpPr txBox="1"/>
          <p:nvPr/>
        </p:nvSpPr>
        <p:spPr>
          <a:xfrm>
            <a:off x="5175504" y="2331720"/>
            <a:ext cx="1828800" cy="365760"/>
          </a:xfrm>
          <a:prstGeom prst="rect">
            <a:avLst/>
          </a:prstGeom>
          <a:noFill/>
          <a:ln/>
        </p:spPr>
        <p:txBody>
          <a:bodyPr wrap="square" lIns="0" tIns="0" rIns="0" bIns="0" rtlCol="0" anchor="t"/>
          <a:lstStyle/>
          <a:p>
            <a:pPr marL="0" indent="0" algn="ctr">
              <a:buNone/>
            </a:pPr>
            <a:r>
              <a:rPr lang="en-US" sz="1400" dirty="0">
                <a:solidFill>
                  <a:schemeClr val="bg1"/>
                </a:solidFill>
              </a:rPr>
              <a:t>what you see</a:t>
            </a:r>
            <a:endParaRPr lang="en-US" sz="1400" dirty="0"/>
          </a:p>
        </p:txBody>
      </p:sp>
      <p:sp>
        <p:nvSpPr>
          <p:cNvPr id="14" name="Shape 12"/>
          <p:cNvSpPr/>
          <p:nvPr/>
        </p:nvSpPr>
        <p:spPr>
          <a:xfrm>
            <a:off x="7068312" y="2103120"/>
            <a:ext cx="347472" cy="274320"/>
          </a:xfrm>
          <a:prstGeom prst="rightArrow">
            <a:avLst/>
          </a:prstGeom>
          <a:solidFill>
            <a:schemeClr val="accent6"/>
          </a:solidFill>
          <a:ln/>
        </p:spPr>
      </p:sp>
      <p:sp>
        <p:nvSpPr>
          <p:cNvPr id="15" name="step-3"/>
          <p:cNvSpPr/>
          <p:nvPr/>
        </p:nvSpPr>
        <p:spPr>
          <a:xfrm>
            <a:off x="7488936" y="1645920"/>
            <a:ext cx="1828800" cy="1188720"/>
          </a:xfrm>
          <a:prstGeom prst="roundRect">
            <a:avLst>
              <a:gd name="adj" fmla="val 9231"/>
            </a:avLst>
          </a:prstGeom>
          <a:solidFill>
            <a:schemeClr val="accent2"/>
          </a:solidFill>
          <a:ln/>
        </p:spPr>
      </p:sp>
      <p:sp>
        <p:nvSpPr>
          <p:cNvPr id="16" name="Text 14"/>
          <p:cNvSpPr txBox="1"/>
          <p:nvPr/>
        </p:nvSpPr>
        <p:spPr>
          <a:xfrm>
            <a:off x="7488936" y="1828800"/>
            <a:ext cx="1828800" cy="457200"/>
          </a:xfrm>
          <a:prstGeom prst="rect">
            <a:avLst/>
          </a:prstGeom>
          <a:noFill/>
          <a:ln/>
        </p:spPr>
        <p:txBody>
          <a:bodyPr wrap="square" lIns="0" tIns="0" rIns="0" bIns="0" rtlCol="0" anchor="t"/>
          <a:lstStyle/>
          <a:p>
            <a:pPr marL="0" indent="0" algn="ctr">
              <a:buNone/>
            </a:pPr>
            <a:r>
              <a:rPr lang="en-US" sz="2000" b="1" dirty="0">
                <a:solidFill>
                  <a:schemeClr val="bg1"/>
                </a:solidFill>
              </a:rPr>
              <a:t>Undo</a:t>
            </a:r>
            <a:endParaRPr lang="en-US" sz="2000" dirty="0"/>
          </a:p>
        </p:txBody>
      </p:sp>
      <p:sp>
        <p:nvSpPr>
          <p:cNvPr id="17" name="Text 15"/>
          <p:cNvSpPr txBox="1"/>
          <p:nvPr/>
        </p:nvSpPr>
        <p:spPr>
          <a:xfrm>
            <a:off x="7488936" y="2331720"/>
            <a:ext cx="1828800" cy="365760"/>
          </a:xfrm>
          <a:prstGeom prst="rect">
            <a:avLst/>
          </a:prstGeom>
          <a:noFill/>
          <a:ln/>
        </p:spPr>
        <p:txBody>
          <a:bodyPr wrap="square" lIns="0" tIns="0" rIns="0" bIns="0" rtlCol="0" anchor="t"/>
          <a:lstStyle/>
          <a:p>
            <a:pPr marL="0" indent="0" algn="ctr">
              <a:buNone/>
            </a:pPr>
            <a:r>
              <a:rPr lang="en-US" sz="1400" dirty="0">
                <a:solidFill>
                  <a:schemeClr val="bg1"/>
                </a:solidFill>
              </a:rPr>
              <a:t>M⁻¹ × edited</a:t>
            </a:r>
            <a:endParaRPr lang="en-US" sz="1400" dirty="0"/>
          </a:p>
        </p:txBody>
      </p:sp>
      <p:sp>
        <p:nvSpPr>
          <p:cNvPr id="18" name="Shape 16"/>
          <p:cNvSpPr/>
          <p:nvPr/>
        </p:nvSpPr>
        <p:spPr>
          <a:xfrm>
            <a:off x="9381744" y="2103120"/>
            <a:ext cx="347472" cy="274320"/>
          </a:xfrm>
          <a:prstGeom prst="rightArrow">
            <a:avLst/>
          </a:prstGeom>
          <a:solidFill>
            <a:schemeClr val="accent6"/>
          </a:solidFill>
          <a:ln/>
        </p:spPr>
      </p:sp>
      <p:sp>
        <p:nvSpPr>
          <p:cNvPr id="19" name="step-4"/>
          <p:cNvSpPr/>
          <p:nvPr/>
        </p:nvSpPr>
        <p:spPr>
          <a:xfrm>
            <a:off x="9802368" y="1645920"/>
            <a:ext cx="1828800" cy="1188720"/>
          </a:xfrm>
          <a:prstGeom prst="roundRect">
            <a:avLst>
              <a:gd name="adj" fmla="val 9231"/>
            </a:avLst>
          </a:prstGeom>
          <a:solidFill>
            <a:schemeClr val="accent4"/>
          </a:solidFill>
          <a:ln/>
        </p:spPr>
      </p:sp>
      <p:sp>
        <p:nvSpPr>
          <p:cNvPr id="20" name="Text 18"/>
          <p:cNvSpPr txBox="1"/>
          <p:nvPr/>
        </p:nvSpPr>
        <p:spPr>
          <a:xfrm>
            <a:off x="9802368" y="1828800"/>
            <a:ext cx="1828800" cy="457200"/>
          </a:xfrm>
          <a:prstGeom prst="rect">
            <a:avLst/>
          </a:prstGeom>
          <a:noFill/>
          <a:ln/>
        </p:spPr>
        <p:txBody>
          <a:bodyPr wrap="square" lIns="0" tIns="0" rIns="0" bIns="0" rtlCol="0" anchor="t"/>
          <a:lstStyle/>
          <a:p>
            <a:pPr marL="0" indent="0" algn="ctr">
              <a:buNone/>
            </a:pPr>
            <a:r>
              <a:rPr lang="en-US" sz="2000" b="1" dirty="0">
                <a:solidFill>
                  <a:schemeClr val="bg1"/>
                </a:solidFill>
              </a:rPr>
              <a:t>Recovered</a:t>
            </a:r>
            <a:endParaRPr lang="en-US" sz="2000" dirty="0"/>
          </a:p>
        </p:txBody>
      </p:sp>
      <p:sp>
        <p:nvSpPr>
          <p:cNvPr id="21" name="Text 19"/>
          <p:cNvSpPr txBox="1"/>
          <p:nvPr/>
        </p:nvSpPr>
        <p:spPr>
          <a:xfrm>
            <a:off x="9802368" y="2331720"/>
            <a:ext cx="1828800" cy="365760"/>
          </a:xfrm>
          <a:prstGeom prst="rect">
            <a:avLst/>
          </a:prstGeom>
          <a:noFill/>
          <a:ln/>
        </p:spPr>
        <p:txBody>
          <a:bodyPr wrap="square" lIns="0" tIns="0" rIns="0" bIns="0" rtlCol="0" anchor="t"/>
          <a:lstStyle/>
          <a:p>
            <a:pPr marL="0" indent="0" algn="ctr">
              <a:buNone/>
            </a:pPr>
            <a:r>
              <a:rPr lang="en-US" sz="1400" dirty="0">
                <a:solidFill>
                  <a:schemeClr val="bg1"/>
                </a:solidFill>
              </a:rPr>
              <a:t>if M allows it</a:t>
            </a:r>
            <a:endParaRPr lang="en-US" sz="1400" dirty="0"/>
          </a:p>
        </p:txBody>
      </p:sp>
      <p:sp>
        <p:nvSpPr>
          <p:cNvPr id="22" name="card-0"/>
          <p:cNvSpPr/>
          <p:nvPr/>
        </p:nvSpPr>
        <p:spPr>
          <a:xfrm>
            <a:off x="548640" y="3383280"/>
            <a:ext cx="3566160" cy="2743200"/>
          </a:xfrm>
          <a:prstGeom prst="roundRect">
            <a:avLst>
              <a:gd name="adj" fmla="val 4000"/>
            </a:avLst>
          </a:prstGeom>
          <a:solidFill>
            <a:schemeClr val="bg2"/>
          </a:solidFill>
          <a:ln/>
        </p:spPr>
      </p:sp>
      <p:sp>
        <p:nvSpPr>
          <p:cNvPr id="23" name="Shape 21"/>
          <p:cNvSpPr/>
          <p:nvPr/>
        </p:nvSpPr>
        <p:spPr>
          <a:xfrm>
            <a:off x="822960" y="3611880"/>
            <a:ext cx="457200" cy="457200"/>
          </a:xfrm>
          <a:prstGeom prst="ellipse">
            <a:avLst/>
          </a:prstGeom>
          <a:solidFill>
            <a:schemeClr val="accent1"/>
          </a:solidFill>
          <a:ln/>
        </p:spPr>
      </p:sp>
      <p:sp>
        <p:nvSpPr>
          <p:cNvPr id="24" name="Text 22"/>
          <p:cNvSpPr txBox="1"/>
          <p:nvPr/>
        </p:nvSpPr>
        <p:spPr>
          <a:xfrm>
            <a:off x="1417320" y="3611880"/>
            <a:ext cx="2560320" cy="320040"/>
          </a:xfrm>
          <a:prstGeom prst="rect">
            <a:avLst/>
          </a:prstGeom>
          <a:noFill/>
          <a:ln/>
        </p:spPr>
        <p:txBody>
          <a:bodyPr wrap="square" lIns="0" tIns="0" rIns="0" bIns="0" rtlCol="0" anchor="t"/>
          <a:lstStyle/>
          <a:p>
            <a:pPr marL="0" indent="0">
              <a:buNone/>
            </a:pPr>
            <a:r>
              <a:rPr lang="en-US" sz="2000" b="1" dirty="0">
                <a:solidFill>
                  <a:schemeClr val="tx1"/>
                </a:solidFill>
              </a:rPr>
              <a:t>Multiplication</a:t>
            </a:r>
            <a:endParaRPr lang="en-US" sz="2000" dirty="0"/>
          </a:p>
        </p:txBody>
      </p:sp>
      <p:sp>
        <p:nvSpPr>
          <p:cNvPr id="25" name="Text 23"/>
          <p:cNvSpPr txBox="1"/>
          <p:nvPr/>
        </p:nvSpPr>
        <p:spPr>
          <a:xfrm>
            <a:off x="1417320" y="3931920"/>
            <a:ext cx="2560320" cy="274320"/>
          </a:xfrm>
          <a:prstGeom prst="rect">
            <a:avLst/>
          </a:prstGeom>
          <a:noFill/>
          <a:ln/>
        </p:spPr>
        <p:txBody>
          <a:bodyPr wrap="square" lIns="0" tIns="0" rIns="0" bIns="0" rtlCol="0" anchor="t"/>
          <a:lstStyle/>
          <a:p>
            <a:pPr marL="0" indent="0">
              <a:buNone/>
            </a:pPr>
            <a:r>
              <a:rPr lang="en-US" sz="1300" dirty="0">
                <a:solidFill>
                  <a:schemeClr val="accent6"/>
                </a:solidFill>
              </a:rPr>
              <a:t>applies the edit</a:t>
            </a:r>
            <a:endParaRPr lang="en-US" sz="1300" dirty="0"/>
          </a:p>
        </p:txBody>
      </p:sp>
      <p:sp>
        <p:nvSpPr>
          <p:cNvPr id="26" name="Text 24"/>
          <p:cNvSpPr txBox="1"/>
          <p:nvPr/>
        </p:nvSpPr>
        <p:spPr>
          <a:xfrm>
            <a:off x="822960" y="4526280"/>
            <a:ext cx="3108960" cy="146304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colour: 3×3 × [R,G,B]</a:t>
            </a:r>
            <a:endParaRPr lang="en-US" sz="1500" dirty="0"/>
          </a:p>
          <a:p>
            <a:pPr marL="0" indent="0">
              <a:spcAft>
                <a:spcPts val="600"/>
              </a:spcAft>
              <a:buNone/>
            </a:pPr>
            <a:r>
              <a:rPr lang="en-US" sz="1500" dirty="0">
                <a:solidFill>
                  <a:schemeClr val="tx2"/>
                </a:solidFill>
              </a:rPr>
              <a:t>geometry: 3×3 × [x,y,1]</a:t>
            </a:r>
            <a:endParaRPr lang="en-US" sz="1500" dirty="0"/>
          </a:p>
          <a:p>
            <a:pPr marL="0" indent="0">
              <a:spcAft>
                <a:spcPts val="600"/>
              </a:spcAft>
              <a:buNone/>
            </a:pPr>
            <a:r>
              <a:rPr lang="en-US" sz="1500" dirty="0">
                <a:solidFill>
                  <a:schemeClr val="tx2"/>
                </a:solidFill>
              </a:rPr>
              <a:t>blur / sharpen: P × kernel</a:t>
            </a:r>
            <a:endParaRPr lang="en-US" sz="1500" dirty="0"/>
          </a:p>
        </p:txBody>
      </p:sp>
      <p:sp>
        <p:nvSpPr>
          <p:cNvPr id="27" name="card-1"/>
          <p:cNvSpPr/>
          <p:nvPr/>
        </p:nvSpPr>
        <p:spPr>
          <a:xfrm>
            <a:off x="4306824" y="3383280"/>
            <a:ext cx="3566160" cy="2743200"/>
          </a:xfrm>
          <a:prstGeom prst="roundRect">
            <a:avLst>
              <a:gd name="adj" fmla="val 4000"/>
            </a:avLst>
          </a:prstGeom>
          <a:solidFill>
            <a:schemeClr val="bg2"/>
          </a:solidFill>
          <a:ln/>
        </p:spPr>
      </p:sp>
      <p:sp>
        <p:nvSpPr>
          <p:cNvPr id="28" name="Shape 26"/>
          <p:cNvSpPr/>
          <p:nvPr/>
        </p:nvSpPr>
        <p:spPr>
          <a:xfrm>
            <a:off x="4581144" y="3611880"/>
            <a:ext cx="457200" cy="457200"/>
          </a:xfrm>
          <a:prstGeom prst="ellipse">
            <a:avLst/>
          </a:prstGeom>
          <a:solidFill>
            <a:schemeClr val="accent2"/>
          </a:solidFill>
          <a:ln/>
        </p:spPr>
      </p:sp>
      <p:sp>
        <p:nvSpPr>
          <p:cNvPr id="29" name="Text 27"/>
          <p:cNvSpPr txBox="1"/>
          <p:nvPr/>
        </p:nvSpPr>
        <p:spPr>
          <a:xfrm>
            <a:off x="5175504" y="3611880"/>
            <a:ext cx="2560320" cy="320040"/>
          </a:xfrm>
          <a:prstGeom prst="rect">
            <a:avLst/>
          </a:prstGeom>
          <a:noFill/>
          <a:ln/>
        </p:spPr>
        <p:txBody>
          <a:bodyPr wrap="square" lIns="0" tIns="0" rIns="0" bIns="0" rtlCol="0" anchor="t"/>
          <a:lstStyle/>
          <a:p>
            <a:pPr marL="0" indent="0">
              <a:buNone/>
            </a:pPr>
            <a:r>
              <a:rPr lang="en-US" sz="2000" b="1" dirty="0">
                <a:solidFill>
                  <a:schemeClr val="tx1"/>
                </a:solidFill>
              </a:rPr>
              <a:t>Inversion</a:t>
            </a:r>
            <a:endParaRPr lang="en-US" sz="2000" dirty="0"/>
          </a:p>
        </p:txBody>
      </p:sp>
      <p:sp>
        <p:nvSpPr>
          <p:cNvPr id="30" name="Text 28"/>
          <p:cNvSpPr txBox="1"/>
          <p:nvPr/>
        </p:nvSpPr>
        <p:spPr>
          <a:xfrm>
            <a:off x="5175504" y="3931920"/>
            <a:ext cx="2560320" cy="274320"/>
          </a:xfrm>
          <a:prstGeom prst="rect">
            <a:avLst/>
          </a:prstGeom>
          <a:noFill/>
          <a:ln/>
        </p:spPr>
        <p:txBody>
          <a:bodyPr wrap="square" lIns="0" tIns="0" rIns="0" bIns="0" rtlCol="0" anchor="t"/>
          <a:lstStyle/>
          <a:p>
            <a:pPr marL="0" indent="0">
              <a:buNone/>
            </a:pPr>
            <a:r>
              <a:rPr lang="en-US" sz="1300" dirty="0">
                <a:solidFill>
                  <a:schemeClr val="accent6"/>
                </a:solidFill>
              </a:rPr>
              <a:t>undoes the edit</a:t>
            </a:r>
            <a:endParaRPr lang="en-US" sz="1300" dirty="0"/>
          </a:p>
        </p:txBody>
      </p:sp>
      <p:sp>
        <p:nvSpPr>
          <p:cNvPr id="31" name="Text 29"/>
          <p:cNvSpPr txBox="1"/>
          <p:nvPr/>
        </p:nvSpPr>
        <p:spPr>
          <a:xfrm>
            <a:off x="4581144" y="4526280"/>
            <a:ext cx="3108960" cy="146304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original = M⁻¹ × edited</a:t>
            </a:r>
            <a:endParaRPr lang="en-US" sz="1500" dirty="0"/>
          </a:p>
          <a:p>
            <a:pPr marL="0" indent="0">
              <a:spcAft>
                <a:spcPts val="600"/>
              </a:spcAft>
              <a:buNone/>
            </a:pPr>
            <a:r>
              <a:rPr lang="en-US" sz="1500" dirty="0">
                <a:solidFill>
                  <a:schemeClr val="tx2"/>
                </a:solidFill>
              </a:rPr>
              <a:t>Gauss-Jordan, written by hand</a:t>
            </a:r>
            <a:endParaRPr lang="en-US" sz="1500" dirty="0"/>
          </a:p>
          <a:p>
            <a:pPr marL="0" indent="0">
              <a:spcAft>
                <a:spcPts val="600"/>
              </a:spcAft>
              <a:buNone/>
            </a:pPr>
            <a:r>
              <a:rPr lang="en-US" sz="1500" dirty="0">
                <a:solidFill>
                  <a:schemeClr val="tx2"/>
                </a:solidFill>
              </a:rPr>
              <a:t>needs det ≠ 0</a:t>
            </a:r>
            <a:endParaRPr lang="en-US" sz="1500" dirty="0"/>
          </a:p>
        </p:txBody>
      </p:sp>
      <p:sp>
        <p:nvSpPr>
          <p:cNvPr id="32" name="card-2"/>
          <p:cNvSpPr/>
          <p:nvPr/>
        </p:nvSpPr>
        <p:spPr>
          <a:xfrm>
            <a:off x="8065008" y="3383280"/>
            <a:ext cx="3566160" cy="2743200"/>
          </a:xfrm>
          <a:prstGeom prst="roundRect">
            <a:avLst>
              <a:gd name="adj" fmla="val 4000"/>
            </a:avLst>
          </a:prstGeom>
          <a:solidFill>
            <a:schemeClr val="bg2"/>
          </a:solidFill>
          <a:ln/>
        </p:spPr>
      </p:sp>
      <p:sp>
        <p:nvSpPr>
          <p:cNvPr id="33" name="Shape 31"/>
          <p:cNvSpPr/>
          <p:nvPr/>
        </p:nvSpPr>
        <p:spPr>
          <a:xfrm>
            <a:off x="8339328" y="3611880"/>
            <a:ext cx="457200" cy="457200"/>
          </a:xfrm>
          <a:prstGeom prst="ellipse">
            <a:avLst/>
          </a:prstGeom>
          <a:solidFill>
            <a:schemeClr val="accent4"/>
          </a:solidFill>
          <a:ln/>
        </p:spPr>
      </p:sp>
      <p:sp>
        <p:nvSpPr>
          <p:cNvPr id="34" name="Text 32"/>
          <p:cNvSpPr txBox="1"/>
          <p:nvPr/>
        </p:nvSpPr>
        <p:spPr>
          <a:xfrm>
            <a:off x="8933688" y="3611880"/>
            <a:ext cx="2560320" cy="320040"/>
          </a:xfrm>
          <a:prstGeom prst="rect">
            <a:avLst/>
          </a:prstGeom>
          <a:noFill/>
          <a:ln/>
        </p:spPr>
        <p:txBody>
          <a:bodyPr wrap="square" lIns="0" tIns="0" rIns="0" bIns="0" rtlCol="0" anchor="t"/>
          <a:lstStyle/>
          <a:p>
            <a:pPr marL="0" indent="0">
              <a:buNone/>
            </a:pPr>
            <a:r>
              <a:rPr lang="en-US" sz="2000" b="1" dirty="0">
                <a:solidFill>
                  <a:schemeClr val="tx1"/>
                </a:solidFill>
              </a:rPr>
              <a:t>Photo filters</a:t>
            </a:r>
            <a:endParaRPr lang="en-US" sz="2000" dirty="0"/>
          </a:p>
        </p:txBody>
      </p:sp>
      <p:sp>
        <p:nvSpPr>
          <p:cNvPr id="35" name="Text 33"/>
          <p:cNvSpPr txBox="1"/>
          <p:nvPr/>
        </p:nvSpPr>
        <p:spPr>
          <a:xfrm>
            <a:off x="8933688" y="3931920"/>
            <a:ext cx="2560320" cy="274320"/>
          </a:xfrm>
          <a:prstGeom prst="rect">
            <a:avLst/>
          </a:prstGeom>
          <a:noFill/>
          <a:ln/>
        </p:spPr>
        <p:txBody>
          <a:bodyPr wrap="square" lIns="0" tIns="0" rIns="0" bIns="0" rtlCol="0" anchor="t"/>
          <a:lstStyle/>
          <a:p>
            <a:pPr marL="0" indent="0">
              <a:buNone/>
            </a:pPr>
            <a:r>
              <a:rPr lang="en-US" sz="1300" dirty="0">
                <a:solidFill>
                  <a:schemeClr val="accent6"/>
                </a:solidFill>
              </a:rPr>
              <a:t>what the user sees</a:t>
            </a:r>
            <a:endParaRPr lang="en-US" sz="1300" dirty="0"/>
          </a:p>
        </p:txBody>
      </p:sp>
      <p:sp>
        <p:nvSpPr>
          <p:cNvPr id="36" name="Text 34"/>
          <p:cNvSpPr txBox="1"/>
          <p:nvPr/>
        </p:nvSpPr>
        <p:spPr>
          <a:xfrm>
            <a:off x="8339328" y="4526280"/>
            <a:ext cx="3108960" cy="1463040"/>
          </a:xfrm>
          <a:prstGeom prst="rect">
            <a:avLst/>
          </a:prstGeom>
          <a:noFill/>
          <a:ln/>
        </p:spPr>
        <p:txBody>
          <a:bodyPr wrap="square" lIns="0" tIns="0" rIns="0" bIns="0" rtlCol="0" anchor="t"/>
          <a:lstStyle/>
          <a:p>
            <a:pPr marL="0" indent="0">
              <a:spcAft>
                <a:spcPts val="600"/>
              </a:spcAft>
              <a:buNone/>
            </a:pPr>
            <a:r>
              <a:rPr lang="en-US" sz="1500" dirty="0">
                <a:solidFill>
                  <a:schemeClr val="tx2"/>
                </a:solidFill>
              </a:rPr>
              <a:t>sepia, grayscale, rotate, shear,</a:t>
            </a:r>
            <a:endParaRPr lang="en-US" sz="1500" dirty="0"/>
          </a:p>
          <a:p>
            <a:pPr marL="0" indent="0">
              <a:spcAft>
                <a:spcPts val="600"/>
              </a:spcAft>
              <a:buNone/>
            </a:pPr>
            <a:r>
              <a:rPr lang="en-US" sz="1500" dirty="0">
                <a:solidFill>
                  <a:schemeClr val="tx2"/>
                </a:solidFill>
              </a:rPr>
              <a:t>blur, sharpen, edges, emboss</a:t>
            </a:r>
            <a:endParaRPr lang="en-US" sz="1500" dirty="0"/>
          </a:p>
          <a:p>
            <a:pPr marL="0" indent="0">
              <a:spcAft>
                <a:spcPts val="600"/>
              </a:spcAft>
              <a:buNone/>
            </a:pPr>
            <a:r>
              <a:rPr lang="en-US" sz="1500" dirty="0">
                <a:solidFill>
                  <a:schemeClr val="tx2"/>
                </a:solidFill>
              </a:rPr>
              <a:t>in a Streamlit app</a:t>
            </a:r>
            <a:endParaRPr lang="en-US" sz="1500" dirty="0"/>
          </a:p>
        </p:txBody>
      </p:sp>
      <p:sp>
        <p:nvSpPr>
          <p:cNvPr id="3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200" b="1" dirty="0">
                <a:solidFill>
                  <a:schemeClr val="tx1"/>
                </a:solidFill>
              </a:rPr>
              <a:t>Whether an inverse is safe depends on the matrix</a:t>
            </a:r>
            <a:endParaRPr lang="en-US" sz="3200" dirty="0"/>
          </a:p>
        </p:txBody>
      </p:sp>
      <p:sp>
        <p:nvSpPr>
          <p:cNvPr id="3" name="core-card"/>
          <p:cNvSpPr/>
          <p:nvPr/>
        </p:nvSpPr>
        <p:spPr>
          <a:xfrm>
            <a:off x="548640" y="1463040"/>
            <a:ext cx="4937760" cy="4754880"/>
          </a:xfrm>
          <a:prstGeom prst="roundRect">
            <a:avLst>
              <a:gd name="adj" fmla="val 2308"/>
            </a:avLst>
          </a:prstGeom>
          <a:solidFill>
            <a:schemeClr val="bg2"/>
          </a:solidFill>
          <a:ln/>
        </p:spPr>
      </p:sp>
      <p:sp>
        <p:nvSpPr>
          <p:cNvPr id="4" name="Text 2"/>
          <p:cNvSpPr txBox="1"/>
          <p:nvPr/>
        </p:nvSpPr>
        <p:spPr>
          <a:xfrm>
            <a:off x="822960" y="1691640"/>
            <a:ext cx="4389120" cy="365760"/>
          </a:xfrm>
          <a:prstGeom prst="rect">
            <a:avLst/>
          </a:prstGeom>
          <a:noFill/>
          <a:ln/>
        </p:spPr>
        <p:txBody>
          <a:bodyPr wrap="square" lIns="0" tIns="0" rIns="0" bIns="0" rtlCol="0" anchor="t"/>
          <a:lstStyle/>
          <a:p>
            <a:pPr marL="0" indent="0">
              <a:buNone/>
            </a:pPr>
            <a:r>
              <a:rPr lang="en-US" sz="2000" b="1" dirty="0">
                <a:solidFill>
                  <a:schemeClr val="tx1"/>
                </a:solidFill>
              </a:rPr>
              <a:t>Hand-written core (matrix_ops.py)</a:t>
            </a:r>
            <a:endParaRPr lang="en-US" sz="2000" dirty="0"/>
          </a:p>
        </p:txBody>
      </p:sp>
      <p:sp>
        <p:nvSpPr>
          <p:cNvPr id="5" name="Text 3"/>
          <p:cNvSpPr txBox="1"/>
          <p:nvPr/>
        </p:nvSpPr>
        <p:spPr>
          <a:xfrm>
            <a:off x="822960" y="2194560"/>
            <a:ext cx="4389120" cy="2286000"/>
          </a:xfrm>
          <a:prstGeom prst="rect">
            <a:avLst/>
          </a:prstGeom>
          <a:noFill/>
          <a:ln/>
        </p:spPr>
        <p:txBody>
          <a:bodyPr wrap="square" lIns="0" tIns="0" rIns="0" bIns="0" rtlCol="0" anchor="t"/>
          <a:lstStyle/>
          <a:p>
            <a:pPr marL="0" indent="0">
              <a:spcAft>
                <a:spcPts val="1000"/>
              </a:spcAft>
              <a:buNone/>
            </a:pPr>
            <a:r>
              <a:rPr lang="en-US" sz="1500" b="1" dirty="0">
                <a:solidFill>
                  <a:schemeClr val="tx2"/>
                </a:solidFill>
              </a:rPr>
              <a:t>Multiply: </a:t>
            </a:r>
            <a:r>
              <a:rPr lang="en-US" sz="1500" dirty="0">
                <a:solidFill>
                  <a:schemeClr val="tx2"/>
                </a:solidFill>
              </a:rPr>
              <a:t>C[i][j] = sum of A[i][k]·B[k][j]</a:t>
            </a:r>
            <a:endParaRPr lang="en-US" sz="1500" dirty="0"/>
          </a:p>
          <a:p>
            <a:pPr marL="0" indent="0">
              <a:spcAft>
                <a:spcPts val="1000"/>
              </a:spcAft>
              <a:buNone/>
            </a:pPr>
            <a:r>
              <a:rPr lang="en-US" sz="1500" b="1" dirty="0">
                <a:solidFill>
                  <a:schemeClr val="tx2"/>
                </a:solidFill>
              </a:rPr>
              <a:t>Determinant: </a:t>
            </a:r>
            <a:r>
              <a:rPr lang="en-US" sz="1500" dirty="0">
                <a:solidFill>
                  <a:schemeClr val="tx2"/>
                </a:solidFill>
              </a:rPr>
              <a:t>Gaussian elimination, partial pivoting</a:t>
            </a:r>
            <a:endParaRPr lang="en-US" sz="1500" dirty="0"/>
          </a:p>
          <a:p>
            <a:pPr marL="0" indent="0">
              <a:spcAft>
                <a:spcPts val="1000"/>
              </a:spcAft>
              <a:buNone/>
            </a:pPr>
            <a:r>
              <a:rPr lang="en-US" sz="1500" b="1" dirty="0">
                <a:solidFill>
                  <a:schemeClr val="tx2"/>
                </a:solidFill>
              </a:rPr>
              <a:t>Inverse: </a:t>
            </a:r>
            <a:r>
              <a:rPr lang="en-US" sz="1500" dirty="0">
                <a:solidFill>
                  <a:schemeClr val="tx2"/>
                </a:solidFill>
              </a:rPr>
              <a:t>Gauss-Jordan on [A | I] → [I | A⁻¹]</a:t>
            </a:r>
            <a:endParaRPr lang="en-US" sz="1500" dirty="0"/>
          </a:p>
          <a:p>
            <a:pPr marL="0" indent="0">
              <a:spcAft>
                <a:spcPts val="1000"/>
              </a:spcAft>
              <a:buNone/>
            </a:pPr>
            <a:r>
              <a:rPr lang="en-US" sz="1500" b="1" dirty="0">
                <a:solidFill>
                  <a:schemeClr val="tx2"/>
                </a:solidFill>
              </a:rPr>
              <a:t>Condition number: </a:t>
            </a:r>
            <a:r>
              <a:rPr lang="en-US" sz="1500" dirty="0">
                <a:solidFill>
                  <a:schemeClr val="tx2"/>
                </a:solidFill>
              </a:rPr>
              <a:t>cond(A) = ‖A‖ · ‖A⁻¹‖</a:t>
            </a:r>
            <a:endParaRPr lang="en-US" sz="1500" dirty="0"/>
          </a:p>
        </p:txBody>
      </p:sp>
      <p:sp>
        <p:nvSpPr>
          <p:cNvPr id="6" name="Text 4"/>
          <p:cNvSpPr txBox="1"/>
          <p:nvPr/>
        </p:nvSpPr>
        <p:spPr>
          <a:xfrm>
            <a:off x="822960" y="4754880"/>
            <a:ext cx="1188720" cy="82296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22</a:t>
            </a:r>
            <a:endParaRPr lang="en-US" sz="4800" dirty="0"/>
          </a:p>
        </p:txBody>
      </p:sp>
      <p:sp>
        <p:nvSpPr>
          <p:cNvPr id="7" name="Text 5"/>
          <p:cNvSpPr txBox="1"/>
          <p:nvPr/>
        </p:nvSpPr>
        <p:spPr>
          <a:xfrm>
            <a:off x="2011680" y="4892040"/>
            <a:ext cx="3291840" cy="640080"/>
          </a:xfrm>
          <a:prstGeom prst="rect">
            <a:avLst/>
          </a:prstGeom>
          <a:noFill/>
          <a:ln/>
        </p:spPr>
        <p:txBody>
          <a:bodyPr wrap="square" lIns="0" tIns="0" rIns="0" bIns="0" rtlCol="0" anchor="t"/>
          <a:lstStyle/>
          <a:p>
            <a:pPr marL="0" indent="0">
              <a:buNone/>
            </a:pPr>
            <a:r>
              <a:rPr lang="en-US" sz="1400" dirty="0">
                <a:solidFill>
                  <a:schemeClr val="tx2"/>
                </a:solidFill>
              </a:rPr>
              <a:t>tests pass; results agree with NumPy to about 1e-14</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63040"/>
          <a:ext cx="5788152" cy="2514600"/>
        </p:xfrm>
        <a:graphic>
          <a:graphicData uri="http://schemas.openxmlformats.org/drawingml/2006/table">
            <a:tbl>
              <a:tblPr/>
              <a:tblGrid>
                <a:gridCol w="1737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39112">
                  <a:extLst>
                    <a:ext uri="{9D8B030D-6E8A-4147-A177-3AD203B41FA5}">
                      <a16:colId xmlns:a16="http://schemas.microsoft.com/office/drawing/2014/main" val="20002"/>
                    </a:ext>
                  </a:extLst>
                </a:gridCol>
              </a:tblGrid>
              <a:tr h="502920">
                <a:tc>
                  <a:txBody>
                    <a:bodyPr/>
                    <a:lstStyle/>
                    <a:p>
                      <a:pPr marL="0" indent="0">
                        <a:buNone/>
                      </a:pP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Good matrix</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Bad matrix</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chemeClr val="tx1"/>
                          </a:solidFill>
                        </a:rPr>
                        <a:t>Matrix</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[[2, 0], [0, 1]]</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[[1, 1], [1, 1.0001]]</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dirty="0">
                          <a:solidFill>
                            <a:schemeClr val="tx1"/>
                          </a:solidFill>
                        </a:rPr>
                        <a:t>Determinant</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2</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0.0001</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dirty="0">
                          <a:solidFill>
                            <a:schemeClr val="tx1"/>
                          </a:solidFill>
                        </a:rPr>
                        <a:t>Condition number</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2</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40,004</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dirty="0">
                          <a:solidFill>
                            <a:schemeClr val="tx1"/>
                          </a:solidFill>
                        </a:rPr>
                        <a:t>Change b by 0.0001</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x: [1, 1] → [1.00005, 1]</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tc>
                  <a:txBody>
                    <a:bodyPr/>
                    <a:lstStyle/>
                    <a:p>
                      <a:pPr marL="0" indent="0">
                        <a:buNone/>
                      </a:pPr>
                      <a:r>
                        <a:rPr lang="en-US" sz="1300" dirty="0">
                          <a:solidFill>
                            <a:schemeClr val="tx1"/>
                          </a:solidFill>
                        </a:rPr>
                        <a:t>x: [1, 1] → [0, 2]</a:t>
                      </a:r>
                      <a:endParaRPr lang="en-US" sz="1300" dirty="0"/>
                    </a:p>
                  </a:txBody>
                  <a:tcPr marL="73152" marR="73152" marT="73152" marB="73152" anchor="ctr">
                    <a:lnL w="9525" cap="flat" cmpd="sng" algn="ctr">
                      <a:solidFill>
                        <a:srgbClr val="D9DCE3"/>
                      </a:solidFill>
                      <a:prstDash val="solid"/>
                      <a:round/>
                      <a:headEnd type="none" w="med" len="med"/>
                      <a:tailEnd type="none" w="med" len="med"/>
                    </a:lnL>
                    <a:lnR w="9525" cap="flat" cmpd="sng" algn="ctr">
                      <a:solidFill>
                        <a:srgbClr val="D9DCE3"/>
                      </a:solidFill>
                      <a:prstDash val="solid"/>
                      <a:round/>
                      <a:headEnd type="none" w="med" len="med"/>
                      <a:tailEnd type="none" w="med" len="med"/>
                    </a:lnR>
                    <a:lnT w="9525" cap="flat" cmpd="sng" algn="ctr">
                      <a:solidFill>
                        <a:srgbClr val="D9DCE3"/>
                      </a:solidFill>
                      <a:prstDash val="solid"/>
                      <a:round/>
                      <a:headEnd type="none" w="med" len="med"/>
                      <a:tailEnd type="none" w="med" len="med"/>
                    </a:lnT>
                    <a:lnB w="9525"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txBox="1"/>
          <p:nvPr/>
        </p:nvSpPr>
        <p:spPr>
          <a:xfrm>
            <a:off x="5852160" y="4297680"/>
            <a:ext cx="5788152" cy="1188720"/>
          </a:xfrm>
          <a:prstGeom prst="rect">
            <a:avLst/>
          </a:prstGeom>
          <a:noFill/>
          <a:ln/>
        </p:spPr>
        <p:txBody>
          <a:bodyPr wrap="square" lIns="0" tIns="0" rIns="0" bIns="0" rtlCol="0" anchor="t"/>
          <a:lstStyle/>
          <a:p>
            <a:pPr marL="0" indent="0">
              <a:buNone/>
            </a:pPr>
            <a:r>
              <a:rPr lang="en-US" sz="1500" dirty="0">
                <a:solidFill>
                  <a:schemeClr val="tx2"/>
                </a:solidFill>
              </a:rPr>
              <a:t>The determinant says whether an inverse exists. The condition number says how safely you can use it: expect to lose about log₁₀(cond) digits. Near 1 is perfect, ∞ is singular, and around 10¹⁶ is hopeless in double precision.</a:t>
            </a:r>
            <a:endParaRPr lang="en-US" sz="1500" dirty="0"/>
          </a:p>
        </p:txBody>
      </p:sp>
      <p:sp>
        <p:nvSpPr>
          <p:cNvPr id="10" name="Text 7"/>
          <p:cNvSpPr txBox="1"/>
          <p:nvPr/>
        </p:nvSpPr>
        <p:spPr>
          <a:xfrm>
            <a:off x="5852160" y="5623560"/>
            <a:ext cx="5788152" cy="548640"/>
          </a:xfrm>
          <a:prstGeom prst="rect">
            <a:avLst/>
          </a:prstGeom>
          <a:noFill/>
          <a:ln/>
        </p:spPr>
        <p:txBody>
          <a:bodyPr wrap="square" lIns="0" tIns="0" rIns="0" bIns="0" rtlCol="0" anchor="t"/>
          <a:lstStyle/>
          <a:p>
            <a:pPr marL="0" indent="0">
              <a:buNone/>
            </a:pPr>
            <a:r>
              <a:rPr lang="en-US" sz="1400" b="1" dirty="0">
                <a:solidFill>
                  <a:schemeClr val="accent1"/>
                </a:solidFill>
              </a:rPr>
              <a:t>Grayscale: det = 0, no inverse.   Full sepia: cond ≈ 28,600.   Soft sepia: cond ≈ 5.</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200" b="1" dirty="0">
                <a:solidFill>
                  <a:schemeClr val="tx1"/>
                </a:solidFill>
              </a:rPr>
              <a:t>Three kinds of edit, all matrix operations</a:t>
            </a:r>
            <a:endParaRPr lang="en-US" sz="3200" dirty="0"/>
          </a:p>
        </p:txBody>
      </p:sp>
      <p:sp>
        <p:nvSpPr>
          <p:cNvPr id="3" name="edit-0"/>
          <p:cNvSpPr/>
          <p:nvPr/>
        </p:nvSpPr>
        <p:spPr>
          <a:xfrm>
            <a:off x="548640" y="1463040"/>
            <a:ext cx="3566160" cy="4754880"/>
          </a:xfrm>
          <a:prstGeom prst="roundRect">
            <a:avLst>
              <a:gd name="adj" fmla="val 3077"/>
            </a:avLst>
          </a:prstGeom>
          <a:solidFill>
            <a:schemeClr val="bg2"/>
          </a:solidFill>
          <a:ln/>
        </p:spPr>
      </p:sp>
      <p:sp>
        <p:nvSpPr>
          <p:cNvPr id="4" name="Shape 2"/>
          <p:cNvSpPr/>
          <p:nvPr/>
        </p:nvSpPr>
        <p:spPr>
          <a:xfrm>
            <a:off x="822960" y="1737360"/>
            <a:ext cx="502920" cy="502920"/>
          </a:xfrm>
          <a:prstGeom prst="ellipse">
            <a:avLst/>
          </a:prstGeom>
          <a:solidFill>
            <a:schemeClr val="accent1"/>
          </a:solidFill>
          <a:ln/>
        </p:spPr>
      </p:sp>
      <p:sp>
        <p:nvSpPr>
          <p:cNvPr id="5" name="Text 3"/>
          <p:cNvSpPr txBox="1"/>
          <p:nvPr/>
        </p:nvSpPr>
        <p:spPr>
          <a:xfrm>
            <a:off x="822960" y="17373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4"/>
          <p:cNvSpPr txBox="1"/>
          <p:nvPr/>
        </p:nvSpPr>
        <p:spPr>
          <a:xfrm>
            <a:off x="1463040" y="1783080"/>
            <a:ext cx="2560320" cy="411480"/>
          </a:xfrm>
          <a:prstGeom prst="rect">
            <a:avLst/>
          </a:prstGeom>
          <a:noFill/>
          <a:ln/>
        </p:spPr>
        <p:txBody>
          <a:bodyPr wrap="square" lIns="0" tIns="0" rIns="0" bIns="0" rtlCol="0" anchor="t"/>
          <a:lstStyle/>
          <a:p>
            <a:pPr marL="0" indent="0">
              <a:buNone/>
            </a:pPr>
            <a:r>
              <a:rPr lang="en-US" sz="2000" b="1" dirty="0">
                <a:solidFill>
                  <a:schemeClr val="tx1"/>
                </a:solidFill>
              </a:rPr>
              <a:t>Colour filters</a:t>
            </a:r>
            <a:endParaRPr lang="en-US" sz="2000" dirty="0"/>
          </a:p>
        </p:txBody>
      </p:sp>
      <p:sp>
        <p:nvSpPr>
          <p:cNvPr id="7" name="Text 5"/>
          <p:cNvSpPr txBox="1"/>
          <p:nvPr/>
        </p:nvSpPr>
        <p:spPr>
          <a:xfrm>
            <a:off x="822960" y="2468880"/>
            <a:ext cx="3108960" cy="548640"/>
          </a:xfrm>
          <a:prstGeom prst="rect">
            <a:avLst/>
          </a:prstGeom>
          <a:noFill/>
          <a:ln/>
        </p:spPr>
        <p:txBody>
          <a:bodyPr wrap="square" lIns="0" tIns="0" rIns="0" bIns="0" rtlCol="0" anchor="t"/>
          <a:lstStyle/>
          <a:p>
            <a:pPr marL="0" indent="0">
              <a:buNone/>
            </a:pPr>
            <a:r>
              <a:rPr lang="en-US" sz="1400" dirty="0">
                <a:solidFill>
                  <a:schemeClr val="accent6"/>
                </a:solidFill>
              </a:rPr>
              <a:t>3×3 matrix × pixel [R, G, B]</a:t>
            </a:r>
            <a:endParaRPr lang="en-US" sz="1400" dirty="0"/>
          </a:p>
        </p:txBody>
      </p:sp>
      <p:sp>
        <p:nvSpPr>
          <p:cNvPr id="8" name="Text 6"/>
          <p:cNvSpPr txBox="1"/>
          <p:nvPr/>
        </p:nvSpPr>
        <p:spPr>
          <a:xfrm>
            <a:off x="822960" y="3108960"/>
            <a:ext cx="3108960" cy="1097280"/>
          </a:xfrm>
          <a:prstGeom prst="rect">
            <a:avLst/>
          </a:prstGeom>
          <a:noFill/>
          <a:ln/>
        </p:spPr>
        <p:txBody>
          <a:bodyPr wrap="square" lIns="0" tIns="0" rIns="0" bIns="0" rtlCol="0" anchor="t"/>
          <a:lstStyle/>
          <a:p>
            <a:pPr marL="0" indent="0">
              <a:buNone/>
            </a:pPr>
            <a:r>
              <a:rPr lang="en-US" sz="1900" b="1" dirty="0">
                <a:solidFill>
                  <a:schemeClr val="accent1"/>
                </a:solidFill>
                <a:latin typeface="Cambria" pitchFamily="34" charset="0"/>
                <a:ea typeface="Cambria" pitchFamily="34" charset="-122"/>
                <a:cs typeface="Cambria" pitchFamily="34" charset="-120"/>
              </a:rPr>
              <a:t>[200, 120, 80]</a:t>
            </a:r>
            <a:endParaRPr lang="en-US" sz="1900" dirty="0"/>
          </a:p>
          <a:p>
            <a:pPr marL="0" indent="0">
              <a:buNone/>
            </a:pPr>
            <a:r>
              <a:rPr lang="en-US" sz="1900" b="1" dirty="0">
                <a:solidFill>
                  <a:schemeClr val="accent1"/>
                </a:solidFill>
                <a:latin typeface="Cambria" pitchFamily="34" charset="0"/>
                <a:ea typeface="Cambria" pitchFamily="34" charset="-122"/>
                <a:cs typeface="Cambria" pitchFamily="34" charset="-120"/>
              </a:rPr>
              <a:t>→ [191.6, 147.3, 109.4]</a:t>
            </a:r>
            <a:endParaRPr lang="en-US" sz="1900" dirty="0"/>
          </a:p>
        </p:txBody>
      </p:sp>
      <p:sp>
        <p:nvSpPr>
          <p:cNvPr id="9" name="Text 7"/>
          <p:cNvSpPr txBox="1"/>
          <p:nvPr/>
        </p:nvSpPr>
        <p:spPr>
          <a:xfrm>
            <a:off x="822960" y="4389120"/>
            <a:ext cx="3108960" cy="1645920"/>
          </a:xfrm>
          <a:prstGeom prst="rect">
            <a:avLst/>
          </a:prstGeom>
          <a:noFill/>
          <a:ln/>
        </p:spPr>
        <p:txBody>
          <a:bodyPr wrap="square" lIns="0" tIns="0" rIns="0" bIns="0" rtlCol="0" anchor="t"/>
          <a:lstStyle/>
          <a:p>
            <a:pPr marL="0" indent="0">
              <a:buNone/>
            </a:pPr>
            <a:r>
              <a:rPr lang="en-US" sz="1400" dirty="0">
                <a:solidFill>
                  <a:schemeClr val="tx2"/>
                </a:solidFill>
              </a:rPr>
              <a:t>Soft sepia. Undo with M⁻¹ gives [200, 120, 80] again. Grayscale has det = 0 and cannot be undone.</a:t>
            </a:r>
            <a:endParaRPr lang="en-US" sz="1400" dirty="0"/>
          </a:p>
        </p:txBody>
      </p:sp>
      <p:sp>
        <p:nvSpPr>
          <p:cNvPr id="10" name="edit-1"/>
          <p:cNvSpPr/>
          <p:nvPr/>
        </p:nvSpPr>
        <p:spPr>
          <a:xfrm>
            <a:off x="4306824" y="1463040"/>
            <a:ext cx="3566160" cy="4754880"/>
          </a:xfrm>
          <a:prstGeom prst="roundRect">
            <a:avLst>
              <a:gd name="adj" fmla="val 3077"/>
            </a:avLst>
          </a:prstGeom>
          <a:solidFill>
            <a:schemeClr val="bg2"/>
          </a:solidFill>
          <a:ln/>
        </p:spPr>
      </p:sp>
      <p:sp>
        <p:nvSpPr>
          <p:cNvPr id="11" name="Shape 9"/>
          <p:cNvSpPr/>
          <p:nvPr/>
        </p:nvSpPr>
        <p:spPr>
          <a:xfrm>
            <a:off x="4581144" y="1737360"/>
            <a:ext cx="502920" cy="502920"/>
          </a:xfrm>
          <a:prstGeom prst="ellipse">
            <a:avLst/>
          </a:prstGeom>
          <a:solidFill>
            <a:schemeClr val="accent2"/>
          </a:solidFill>
          <a:ln/>
        </p:spPr>
      </p:sp>
      <p:sp>
        <p:nvSpPr>
          <p:cNvPr id="12" name="Text 10"/>
          <p:cNvSpPr txBox="1"/>
          <p:nvPr/>
        </p:nvSpPr>
        <p:spPr>
          <a:xfrm>
            <a:off x="4581144" y="17373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3" name="Text 11"/>
          <p:cNvSpPr txBox="1"/>
          <p:nvPr/>
        </p:nvSpPr>
        <p:spPr>
          <a:xfrm>
            <a:off x="5221224" y="1783080"/>
            <a:ext cx="2560320" cy="411480"/>
          </a:xfrm>
          <a:prstGeom prst="rect">
            <a:avLst/>
          </a:prstGeom>
          <a:noFill/>
          <a:ln/>
        </p:spPr>
        <p:txBody>
          <a:bodyPr wrap="square" lIns="0" tIns="0" rIns="0" bIns="0" rtlCol="0" anchor="t"/>
          <a:lstStyle/>
          <a:p>
            <a:pPr marL="0" indent="0">
              <a:buNone/>
            </a:pPr>
            <a:r>
              <a:rPr lang="en-US" sz="2000" b="1" dirty="0">
                <a:solidFill>
                  <a:schemeClr val="tx1"/>
                </a:solidFill>
              </a:rPr>
              <a:t>Geometric transforms</a:t>
            </a:r>
            <a:endParaRPr lang="en-US" sz="2000" dirty="0"/>
          </a:p>
        </p:txBody>
      </p:sp>
      <p:sp>
        <p:nvSpPr>
          <p:cNvPr id="14" name="Text 12"/>
          <p:cNvSpPr txBox="1"/>
          <p:nvPr/>
        </p:nvSpPr>
        <p:spPr>
          <a:xfrm>
            <a:off x="4581144" y="2468880"/>
            <a:ext cx="3108960" cy="548640"/>
          </a:xfrm>
          <a:prstGeom prst="rect">
            <a:avLst/>
          </a:prstGeom>
          <a:noFill/>
          <a:ln/>
        </p:spPr>
        <p:txBody>
          <a:bodyPr wrap="square" lIns="0" tIns="0" rIns="0" bIns="0" rtlCol="0" anchor="t"/>
          <a:lstStyle/>
          <a:p>
            <a:pPr marL="0" indent="0">
              <a:buNone/>
            </a:pPr>
            <a:r>
              <a:rPr lang="en-US" sz="1400" dirty="0">
                <a:solidFill>
                  <a:schemeClr val="accent6"/>
                </a:solidFill>
              </a:rPr>
              <a:t>3×3 homogeneous matrix × [x, y, 1]</a:t>
            </a:r>
            <a:endParaRPr lang="en-US" sz="1400" dirty="0"/>
          </a:p>
        </p:txBody>
      </p:sp>
      <p:sp>
        <p:nvSpPr>
          <p:cNvPr id="15" name="Text 13"/>
          <p:cNvSpPr txBox="1"/>
          <p:nvPr/>
        </p:nvSpPr>
        <p:spPr>
          <a:xfrm>
            <a:off x="4581144" y="3108960"/>
            <a:ext cx="3108960" cy="1097280"/>
          </a:xfrm>
          <a:prstGeom prst="rect">
            <a:avLst/>
          </a:prstGeom>
          <a:noFill/>
          <a:ln/>
        </p:spPr>
        <p:txBody>
          <a:bodyPr wrap="square" lIns="0" tIns="0" rIns="0" bIns="0" rtlCol="0" anchor="t"/>
          <a:lstStyle/>
          <a:p>
            <a:pPr marL="0" indent="0">
              <a:buNone/>
            </a:pPr>
            <a:r>
              <a:rPr lang="en-US" sz="1900" b="1" dirty="0">
                <a:solidFill>
                  <a:schemeClr val="accent2"/>
                </a:solidFill>
                <a:latin typeface="Cambria" pitchFamily="34" charset="0"/>
                <a:ea typeface="Cambria" pitchFamily="34" charset="-122"/>
                <a:cs typeface="Cambria" pitchFamily="34" charset="-120"/>
              </a:rPr>
              <a:t>[100, 50] → [81.9, 81.4]</a:t>
            </a:r>
            <a:endParaRPr lang="en-US" sz="1900" dirty="0"/>
          </a:p>
        </p:txBody>
      </p:sp>
      <p:sp>
        <p:nvSpPr>
          <p:cNvPr id="16" name="Text 14"/>
          <p:cNvSpPr txBox="1"/>
          <p:nvPr/>
        </p:nvSpPr>
        <p:spPr>
          <a:xfrm>
            <a:off x="4581144" y="4389120"/>
            <a:ext cx="3108960" cy="1645920"/>
          </a:xfrm>
          <a:prstGeom prst="rect">
            <a:avLst/>
          </a:prstGeom>
          <a:noFill/>
          <a:ln/>
        </p:spPr>
        <p:txBody>
          <a:bodyPr wrap="square" lIns="0" tIns="0" rIns="0" bIns="0" rtlCol="0" anchor="t"/>
          <a:lstStyle/>
          <a:p>
            <a:pPr marL="0" indent="0">
              <a:buNone/>
            </a:pPr>
            <a:r>
              <a:rPr lang="en-US" sz="1400" dirty="0">
                <a:solidFill>
                  <a:schemeClr val="tx2"/>
                </a:solidFill>
              </a:rPr>
              <a:t>Rotate 30° about the centre (det = 1). Matrices combine by multiplication, and S·R ≠ R·S. Warping uses T⁻¹ to find each source pixel.</a:t>
            </a:r>
            <a:endParaRPr lang="en-US" sz="1400" dirty="0"/>
          </a:p>
        </p:txBody>
      </p:sp>
      <p:sp>
        <p:nvSpPr>
          <p:cNvPr id="17" name="edit-2"/>
          <p:cNvSpPr/>
          <p:nvPr/>
        </p:nvSpPr>
        <p:spPr>
          <a:xfrm>
            <a:off x="8065008" y="1463040"/>
            <a:ext cx="3566160" cy="4754880"/>
          </a:xfrm>
          <a:prstGeom prst="roundRect">
            <a:avLst>
              <a:gd name="adj" fmla="val 3077"/>
            </a:avLst>
          </a:prstGeom>
          <a:solidFill>
            <a:schemeClr val="bg2"/>
          </a:solidFill>
          <a:ln/>
        </p:spPr>
      </p:sp>
      <p:sp>
        <p:nvSpPr>
          <p:cNvPr id="18" name="Shape 16"/>
          <p:cNvSpPr/>
          <p:nvPr/>
        </p:nvSpPr>
        <p:spPr>
          <a:xfrm>
            <a:off x="8339328" y="1737360"/>
            <a:ext cx="502920" cy="502920"/>
          </a:xfrm>
          <a:prstGeom prst="ellipse">
            <a:avLst/>
          </a:prstGeom>
          <a:solidFill>
            <a:schemeClr val="accent4"/>
          </a:solidFill>
          <a:ln/>
        </p:spPr>
      </p:sp>
      <p:sp>
        <p:nvSpPr>
          <p:cNvPr id="19" name="Text 17"/>
          <p:cNvSpPr txBox="1"/>
          <p:nvPr/>
        </p:nvSpPr>
        <p:spPr>
          <a:xfrm>
            <a:off x="8339328" y="17373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20" name="Text 18"/>
          <p:cNvSpPr txBox="1"/>
          <p:nvPr/>
        </p:nvSpPr>
        <p:spPr>
          <a:xfrm>
            <a:off x="8979408" y="1783080"/>
            <a:ext cx="2560320" cy="411480"/>
          </a:xfrm>
          <a:prstGeom prst="rect">
            <a:avLst/>
          </a:prstGeom>
          <a:noFill/>
          <a:ln/>
        </p:spPr>
        <p:txBody>
          <a:bodyPr wrap="square" lIns="0" tIns="0" rIns="0" bIns="0" rtlCol="0" anchor="t"/>
          <a:lstStyle/>
          <a:p>
            <a:pPr marL="0" indent="0">
              <a:buNone/>
            </a:pPr>
            <a:r>
              <a:rPr lang="en-US" sz="2000" b="1" dirty="0">
                <a:solidFill>
                  <a:schemeClr val="tx1"/>
                </a:solidFill>
              </a:rPr>
              <a:t>Convolution filters</a:t>
            </a:r>
            <a:endParaRPr lang="en-US" sz="2000" dirty="0"/>
          </a:p>
        </p:txBody>
      </p:sp>
      <p:sp>
        <p:nvSpPr>
          <p:cNvPr id="21" name="Text 19"/>
          <p:cNvSpPr txBox="1"/>
          <p:nvPr/>
        </p:nvSpPr>
        <p:spPr>
          <a:xfrm>
            <a:off x="8339328" y="2468880"/>
            <a:ext cx="3108960" cy="548640"/>
          </a:xfrm>
          <a:prstGeom prst="rect">
            <a:avLst/>
          </a:prstGeom>
          <a:noFill/>
          <a:ln/>
        </p:spPr>
        <p:txBody>
          <a:bodyPr wrap="square" lIns="0" tIns="0" rIns="0" bIns="0" rtlCol="0" anchor="t"/>
          <a:lstStyle/>
          <a:p>
            <a:pPr marL="0" indent="0">
              <a:buNone/>
            </a:pPr>
            <a:r>
              <a:rPr lang="en-US" sz="1400" dirty="0">
                <a:solidFill>
                  <a:schemeClr val="accent6"/>
                </a:solidFill>
              </a:rPr>
              <a:t>neighbourhood rows P × kernel</a:t>
            </a:r>
            <a:endParaRPr lang="en-US" sz="1400" dirty="0"/>
          </a:p>
        </p:txBody>
      </p:sp>
      <p:sp>
        <p:nvSpPr>
          <p:cNvPr id="22" name="Text 20"/>
          <p:cNvSpPr txBox="1"/>
          <p:nvPr/>
        </p:nvSpPr>
        <p:spPr>
          <a:xfrm>
            <a:off x="8339328" y="3108960"/>
            <a:ext cx="3108960" cy="1097280"/>
          </a:xfrm>
          <a:prstGeom prst="rect">
            <a:avLst/>
          </a:prstGeom>
          <a:noFill/>
          <a:ln/>
        </p:spPr>
        <p:txBody>
          <a:bodyPr wrap="square" lIns="0" tIns="0" rIns="0" bIns="0" rtlCol="0" anchor="t"/>
          <a:lstStyle/>
          <a:p>
            <a:pPr marL="0" indent="0">
              <a:buNone/>
            </a:pPr>
            <a:r>
              <a:rPr lang="en-US" sz="1900" b="1" dirty="0">
                <a:solidFill>
                  <a:schemeClr val="accent4"/>
                </a:solidFill>
                <a:latin typeface="Cambria" pitchFamily="34" charset="0"/>
                <a:ea typeface="Cambria" pitchFamily="34" charset="-122"/>
                <a:cs typeface="Cambria" pitchFamily="34" charset="-120"/>
              </a:rPr>
              <a:t>edge patch: box 73.3</a:t>
            </a:r>
            <a:endParaRPr lang="en-US" sz="1900" dirty="0"/>
          </a:p>
          <a:p>
            <a:pPr marL="0" indent="0">
              <a:buNone/>
            </a:pPr>
            <a:r>
              <a:rPr lang="en-US" sz="1900" b="1" dirty="0">
                <a:solidFill>
                  <a:schemeClr val="accent4"/>
                </a:solidFill>
                <a:latin typeface="Cambria" pitchFamily="34" charset="0"/>
                <a:ea typeface="Cambria" pitchFamily="34" charset="-122"/>
                <a:cs typeface="Cambria" pitchFamily="34" charset="-120"/>
              </a:rPr>
              <a:t>sharpen −180, Sobel 760</a:t>
            </a:r>
            <a:endParaRPr lang="en-US" sz="1900" dirty="0"/>
          </a:p>
        </p:txBody>
      </p:sp>
      <p:sp>
        <p:nvSpPr>
          <p:cNvPr id="23" name="Text 21"/>
          <p:cNvSpPr txBox="1"/>
          <p:nvPr/>
        </p:nvSpPr>
        <p:spPr>
          <a:xfrm>
            <a:off x="8339328" y="4389120"/>
            <a:ext cx="3108960" cy="1645920"/>
          </a:xfrm>
          <a:prstGeom prst="rect">
            <a:avLst/>
          </a:prstGeom>
          <a:noFill/>
          <a:ln/>
        </p:spPr>
        <p:txBody>
          <a:bodyPr wrap="square" lIns="0" tIns="0" rIns="0" bIns="0" rtlCol="0" anchor="t"/>
          <a:lstStyle/>
          <a:p>
            <a:pPr marL="0" indent="0">
              <a:buNone/>
            </a:pPr>
            <a:r>
              <a:rPr lang="en-US" sz="1400" dirty="0">
                <a:solidFill>
                  <a:schemeClr val="tx2"/>
                </a:solidFill>
              </a:rPr>
              <a:t>im2col turns each pixel's neighbourhood into one row of P. The whole filter is also one big matrix 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200" b="1" dirty="0">
                <a:solidFill>
                  <a:schemeClr val="tx1"/>
                </a:solidFill>
              </a:rPr>
              <a:t>Undoing an edit: four outcomes</a:t>
            </a:r>
            <a:endParaRPr lang="en-US" sz="3200" dirty="0"/>
          </a:p>
        </p:txBody>
      </p:sp>
      <p:pic>
        <p:nvPicPr>
          <p:cNvPr id="3" name="Image 0" descr="/mnt/user-data/outputs/photo_filter_project/outputs/step5_color_recovery.png"/>
          <p:cNvPicPr>
            <a:picLocks noChangeAspect="1"/>
          </p:cNvPicPr>
          <p:nvPr/>
        </p:nvPicPr>
        <p:blipFill>
          <a:blip r:embed="rId3"/>
          <a:stretch>
            <a:fillRect/>
          </a:stretch>
        </p:blipFill>
        <p:spPr>
          <a:xfrm>
            <a:off x="548640" y="1508760"/>
            <a:ext cx="6766560" cy="3383280"/>
          </a:xfrm>
          <a:prstGeom prst="rect">
            <a:avLst/>
          </a:prstGeom>
        </p:spPr>
      </p:pic>
      <p:sp>
        <p:nvSpPr>
          <p:cNvPr id="4" name="Text 1"/>
          <p:cNvSpPr txBox="1"/>
          <p:nvPr/>
        </p:nvSpPr>
        <p:spPr>
          <a:xfrm>
            <a:off x="548640" y="5029200"/>
            <a:ext cx="6766560" cy="548640"/>
          </a:xfrm>
          <a:prstGeom prst="rect">
            <a:avLst/>
          </a:prstGeom>
          <a:noFill/>
          <a:ln/>
        </p:spPr>
        <p:txBody>
          <a:bodyPr wrap="square" lIns="0" tIns="0" rIns="0" bIns="0" rtlCol="0" anchor="t"/>
          <a:lstStyle/>
          <a:p>
            <a:pPr marL="0" indent="0">
              <a:buNone/>
            </a:pPr>
            <a:r>
              <a:rPr lang="en-US" sz="1200" i="1" dirty="0">
                <a:solidFill>
                  <a:schemeClr val="accent6"/>
                </a:solidFill>
              </a:rPr>
              <a:t>Soft sepia (top) and full sepia (bottom) after the same tiny noise (std 0.5), then inverted.</a:t>
            </a:r>
            <a:endParaRPr lang="en-US" sz="1200" dirty="0"/>
          </a:p>
        </p:txBody>
      </p:sp>
      <p:sp>
        <p:nvSpPr>
          <p:cNvPr id="5" name="outcome-0"/>
          <p:cNvSpPr/>
          <p:nvPr/>
        </p:nvSpPr>
        <p:spPr>
          <a:xfrm>
            <a:off x="7680960" y="1508760"/>
            <a:ext cx="3959352" cy="1051560"/>
          </a:xfrm>
          <a:prstGeom prst="roundRect">
            <a:avLst>
              <a:gd name="adj" fmla="val 10435"/>
            </a:avLst>
          </a:prstGeom>
          <a:solidFill>
            <a:schemeClr val="bg2"/>
          </a:solidFill>
          <a:ln/>
        </p:spPr>
      </p:sp>
      <p:sp>
        <p:nvSpPr>
          <p:cNvPr id="6" name="Shape 3"/>
          <p:cNvSpPr/>
          <p:nvPr/>
        </p:nvSpPr>
        <p:spPr>
          <a:xfrm>
            <a:off x="7863840" y="1691640"/>
            <a:ext cx="274320" cy="274320"/>
          </a:xfrm>
          <a:prstGeom prst="ellipse">
            <a:avLst/>
          </a:prstGeom>
          <a:solidFill>
            <a:schemeClr val="accent2"/>
          </a:solidFill>
          <a:ln/>
        </p:spPr>
      </p:sp>
      <p:sp>
        <p:nvSpPr>
          <p:cNvPr id="7" name="Text 4"/>
          <p:cNvSpPr txBox="1"/>
          <p:nvPr/>
        </p:nvSpPr>
        <p:spPr>
          <a:xfrm>
            <a:off x="8275320" y="1618488"/>
            <a:ext cx="3200400" cy="320040"/>
          </a:xfrm>
          <a:prstGeom prst="rect">
            <a:avLst/>
          </a:prstGeom>
          <a:noFill/>
          <a:ln/>
        </p:spPr>
        <p:txBody>
          <a:bodyPr wrap="square" lIns="0" tIns="0" rIns="0" bIns="0" rtlCol="0" anchor="t"/>
          <a:lstStyle/>
          <a:p>
            <a:pPr marL="0" indent="0">
              <a:buNone/>
            </a:pPr>
            <a:r>
              <a:rPr lang="en-US" sz="1700" b="1" dirty="0">
                <a:solidFill>
                  <a:schemeClr val="tx1"/>
                </a:solidFill>
              </a:rPr>
              <a:t>Clean</a:t>
            </a:r>
            <a:endParaRPr lang="en-US" sz="1700" dirty="0"/>
          </a:p>
        </p:txBody>
      </p:sp>
      <p:sp>
        <p:nvSpPr>
          <p:cNvPr id="8" name="Text 5"/>
          <p:cNvSpPr txBox="1"/>
          <p:nvPr/>
        </p:nvSpPr>
        <p:spPr>
          <a:xfrm>
            <a:off x="8275320" y="1965960"/>
            <a:ext cx="3200400" cy="548640"/>
          </a:xfrm>
          <a:prstGeom prst="rect">
            <a:avLst/>
          </a:prstGeom>
          <a:noFill/>
          <a:ln/>
        </p:spPr>
        <p:txBody>
          <a:bodyPr wrap="square" lIns="0" tIns="0" rIns="0" bIns="0" rtlCol="0" anchor="t"/>
          <a:lstStyle/>
          <a:p>
            <a:pPr marL="0" indent="0">
              <a:buNone/>
            </a:pPr>
            <a:r>
              <a:rPr lang="en-US" sz="1200" dirty="0">
                <a:solidFill>
                  <a:schemeClr val="tx2"/>
                </a:solidFill>
              </a:rPr>
              <a:t>soft sepia, swap, rotation: cond near 1, exact recovery</a:t>
            </a:r>
            <a:endParaRPr lang="en-US" sz="1200" dirty="0"/>
          </a:p>
        </p:txBody>
      </p:sp>
      <p:sp>
        <p:nvSpPr>
          <p:cNvPr id="9" name="outcome-1"/>
          <p:cNvSpPr/>
          <p:nvPr/>
        </p:nvSpPr>
        <p:spPr>
          <a:xfrm>
            <a:off x="7680960" y="2697480"/>
            <a:ext cx="3959352" cy="1051560"/>
          </a:xfrm>
          <a:prstGeom prst="roundRect">
            <a:avLst>
              <a:gd name="adj" fmla="val 10435"/>
            </a:avLst>
          </a:prstGeom>
          <a:solidFill>
            <a:schemeClr val="bg2"/>
          </a:solidFill>
          <a:ln/>
        </p:spPr>
      </p:sp>
      <p:sp>
        <p:nvSpPr>
          <p:cNvPr id="10" name="Shape 7"/>
          <p:cNvSpPr/>
          <p:nvPr/>
        </p:nvSpPr>
        <p:spPr>
          <a:xfrm>
            <a:off x="7863840" y="2880360"/>
            <a:ext cx="274320" cy="274320"/>
          </a:xfrm>
          <a:prstGeom prst="ellipse">
            <a:avLst/>
          </a:prstGeom>
          <a:solidFill>
            <a:schemeClr val="accent5"/>
          </a:solidFill>
          <a:ln/>
        </p:spPr>
      </p:sp>
      <p:sp>
        <p:nvSpPr>
          <p:cNvPr id="11" name="Text 8"/>
          <p:cNvSpPr txBox="1"/>
          <p:nvPr/>
        </p:nvSpPr>
        <p:spPr>
          <a:xfrm>
            <a:off x="8275320" y="2807208"/>
            <a:ext cx="3200400" cy="320040"/>
          </a:xfrm>
          <a:prstGeom prst="rect">
            <a:avLst/>
          </a:prstGeom>
          <a:noFill/>
          <a:ln/>
        </p:spPr>
        <p:txBody>
          <a:bodyPr wrap="square" lIns="0" tIns="0" rIns="0" bIns="0" rtlCol="0" anchor="t"/>
          <a:lstStyle/>
          <a:p>
            <a:pPr marL="0" indent="0">
              <a:buNone/>
            </a:pPr>
            <a:r>
              <a:rPr lang="en-US" sz="1700" b="1" dirty="0">
                <a:solidFill>
                  <a:schemeClr val="tx1"/>
                </a:solidFill>
              </a:rPr>
              <a:t>Noise amplified</a:t>
            </a:r>
            <a:endParaRPr lang="en-US" sz="1700" dirty="0"/>
          </a:p>
        </p:txBody>
      </p:sp>
      <p:sp>
        <p:nvSpPr>
          <p:cNvPr id="12" name="Text 9"/>
          <p:cNvSpPr txBox="1"/>
          <p:nvPr/>
        </p:nvSpPr>
        <p:spPr>
          <a:xfrm>
            <a:off x="8275320" y="3154680"/>
            <a:ext cx="3200400" cy="548640"/>
          </a:xfrm>
          <a:prstGeom prst="rect">
            <a:avLst/>
          </a:prstGeom>
          <a:noFill/>
          <a:ln/>
        </p:spPr>
        <p:txBody>
          <a:bodyPr wrap="square" lIns="0" tIns="0" rIns="0" bIns="0" rtlCol="0" anchor="t"/>
          <a:lstStyle/>
          <a:p>
            <a:pPr marL="0" indent="0">
              <a:buNone/>
            </a:pPr>
            <a:r>
              <a:rPr lang="en-US" sz="1200" dirty="0">
                <a:solidFill>
                  <a:schemeClr val="tx2"/>
                </a:solidFill>
              </a:rPr>
              <a:t>full sepia: cond ≈ 28,600, noise × 7,246; soft sepia only × 2.2</a:t>
            </a:r>
            <a:endParaRPr lang="en-US" sz="1200" dirty="0"/>
          </a:p>
        </p:txBody>
      </p:sp>
      <p:sp>
        <p:nvSpPr>
          <p:cNvPr id="13" name="outcome-2"/>
          <p:cNvSpPr/>
          <p:nvPr/>
        </p:nvSpPr>
        <p:spPr>
          <a:xfrm>
            <a:off x="7680960" y="3886200"/>
            <a:ext cx="3959352" cy="1051560"/>
          </a:xfrm>
          <a:prstGeom prst="roundRect">
            <a:avLst>
              <a:gd name="adj" fmla="val 10435"/>
            </a:avLst>
          </a:prstGeom>
          <a:solidFill>
            <a:schemeClr val="bg2"/>
          </a:solidFill>
          <a:ln/>
        </p:spPr>
      </p:sp>
      <p:sp>
        <p:nvSpPr>
          <p:cNvPr id="14" name="Shape 11"/>
          <p:cNvSpPr/>
          <p:nvPr/>
        </p:nvSpPr>
        <p:spPr>
          <a:xfrm>
            <a:off x="7863840" y="4069080"/>
            <a:ext cx="274320" cy="274320"/>
          </a:xfrm>
          <a:prstGeom prst="ellipse">
            <a:avLst/>
          </a:prstGeom>
          <a:solidFill>
            <a:schemeClr val="accent3"/>
          </a:solidFill>
          <a:ln/>
        </p:spPr>
      </p:sp>
      <p:sp>
        <p:nvSpPr>
          <p:cNvPr id="15" name="Text 12"/>
          <p:cNvSpPr txBox="1"/>
          <p:nvPr/>
        </p:nvSpPr>
        <p:spPr>
          <a:xfrm>
            <a:off x="8275320" y="3995928"/>
            <a:ext cx="3200400" cy="320040"/>
          </a:xfrm>
          <a:prstGeom prst="rect">
            <a:avLst/>
          </a:prstGeom>
          <a:noFill/>
          <a:ln/>
        </p:spPr>
        <p:txBody>
          <a:bodyPr wrap="square" lIns="0" tIns="0" rIns="0" bIns="0" rtlCol="0" anchor="t"/>
          <a:lstStyle/>
          <a:p>
            <a:pPr marL="0" indent="0">
              <a:buNone/>
            </a:pPr>
            <a:r>
              <a:rPr lang="en-US" sz="1700" b="1" dirty="0">
                <a:solidFill>
                  <a:schemeClr val="tx1"/>
                </a:solidFill>
              </a:rPr>
              <a:t>Impossible</a:t>
            </a:r>
            <a:endParaRPr lang="en-US" sz="1700" dirty="0"/>
          </a:p>
        </p:txBody>
      </p:sp>
      <p:sp>
        <p:nvSpPr>
          <p:cNvPr id="16" name="Text 13"/>
          <p:cNvSpPr txBox="1"/>
          <p:nvPr/>
        </p:nvSpPr>
        <p:spPr>
          <a:xfrm>
            <a:off x="8275320" y="4343400"/>
            <a:ext cx="3200400" cy="548640"/>
          </a:xfrm>
          <a:prstGeom prst="rect">
            <a:avLst/>
          </a:prstGeom>
          <a:noFill/>
          <a:ln/>
        </p:spPr>
        <p:txBody>
          <a:bodyPr wrap="square" lIns="0" tIns="0" rIns="0" bIns="0" rtlCol="0" anchor="t"/>
          <a:lstStyle/>
          <a:p>
            <a:pPr marL="0" indent="0">
              <a:buNone/>
            </a:pPr>
            <a:r>
              <a:rPr lang="en-US" sz="1200" dirty="0">
                <a:solidFill>
                  <a:schemeClr val="tx2"/>
                </a:solidFill>
              </a:rPr>
              <a:t>grayscale: det = 0, different colours become the same grey</a:t>
            </a:r>
            <a:endParaRPr lang="en-US" sz="1200" dirty="0"/>
          </a:p>
        </p:txBody>
      </p:sp>
      <p:sp>
        <p:nvSpPr>
          <p:cNvPr id="17" name="outcome-3"/>
          <p:cNvSpPr/>
          <p:nvPr/>
        </p:nvSpPr>
        <p:spPr>
          <a:xfrm>
            <a:off x="7680960" y="5074920"/>
            <a:ext cx="3959352" cy="1051560"/>
          </a:xfrm>
          <a:prstGeom prst="roundRect">
            <a:avLst>
              <a:gd name="adj" fmla="val 10435"/>
            </a:avLst>
          </a:prstGeom>
          <a:solidFill>
            <a:schemeClr val="bg2"/>
          </a:solidFill>
          <a:ln/>
        </p:spPr>
      </p:sp>
      <p:sp>
        <p:nvSpPr>
          <p:cNvPr id="18" name="Shape 15"/>
          <p:cNvSpPr/>
          <p:nvPr/>
        </p:nvSpPr>
        <p:spPr>
          <a:xfrm>
            <a:off x="7863840" y="5257800"/>
            <a:ext cx="274320" cy="274320"/>
          </a:xfrm>
          <a:prstGeom prst="ellipse">
            <a:avLst/>
          </a:prstGeom>
          <a:solidFill>
            <a:schemeClr val="accent4"/>
          </a:solidFill>
          <a:ln/>
        </p:spPr>
      </p:sp>
      <p:sp>
        <p:nvSpPr>
          <p:cNvPr id="19" name="Text 16"/>
          <p:cNvSpPr txBox="1"/>
          <p:nvPr/>
        </p:nvSpPr>
        <p:spPr>
          <a:xfrm>
            <a:off x="8275320" y="5184648"/>
            <a:ext cx="3200400" cy="320040"/>
          </a:xfrm>
          <a:prstGeom prst="rect">
            <a:avLst/>
          </a:prstGeom>
          <a:noFill/>
          <a:ln/>
        </p:spPr>
        <p:txBody>
          <a:bodyPr wrap="square" lIns="0" tIns="0" rIns="0" bIns="0" rtlCol="0" anchor="t"/>
          <a:lstStyle/>
          <a:p>
            <a:pPr marL="0" indent="0">
              <a:buNone/>
            </a:pPr>
            <a:r>
              <a:rPr lang="en-US" sz="1700" b="1" dirty="0">
                <a:solidFill>
                  <a:schemeClr val="tx1"/>
                </a:solidFill>
              </a:rPr>
              <a:t>Information lost</a:t>
            </a:r>
            <a:endParaRPr lang="en-US" sz="1700" dirty="0"/>
          </a:p>
        </p:txBody>
      </p:sp>
      <p:sp>
        <p:nvSpPr>
          <p:cNvPr id="20" name="Text 17"/>
          <p:cNvSpPr txBox="1"/>
          <p:nvPr/>
        </p:nvSpPr>
        <p:spPr>
          <a:xfrm>
            <a:off x="8275320" y="5532120"/>
            <a:ext cx="3200400" cy="548640"/>
          </a:xfrm>
          <a:prstGeom prst="rect">
            <a:avLst/>
          </a:prstGeom>
          <a:noFill/>
          <a:ln/>
        </p:spPr>
        <p:txBody>
          <a:bodyPr wrap="square" lIns="0" tIns="0" rIns="0" bIns="0" rtlCol="0" anchor="t"/>
          <a:lstStyle/>
          <a:p>
            <a:pPr marL="0" indent="0">
              <a:buNone/>
            </a:pPr>
            <a:r>
              <a:rPr lang="en-US" sz="1200" dirty="0">
                <a:solidFill>
                  <a:schemeClr val="tx2"/>
                </a:solidFill>
              </a:rPr>
              <a:t>8-bit clipping at 255 (10.9% of pixels) or pixels rotated off-frame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200" b="1" dirty="0">
                <a:solidFill>
                  <a:schemeClr val="tx1"/>
                </a:solidFill>
              </a:rPr>
              <a:t>Deblurring needs regularisation; hand-written code costs speed</a:t>
            </a:r>
            <a:endParaRPr lang="en-US" sz="3200" dirty="0"/>
          </a:p>
        </p:txBody>
      </p:sp>
      <p:pic>
        <p:nvPicPr>
          <p:cNvPr id="3" name="Image 0" descr="/mnt/user-data/outputs/photo_filter_project/outputs/step5_deblur.png"/>
          <p:cNvPicPr>
            <a:picLocks noChangeAspect="1"/>
          </p:cNvPicPr>
          <p:nvPr/>
        </p:nvPicPr>
        <p:blipFill>
          <a:blip r:embed="rId3"/>
          <a:stretch>
            <a:fillRect/>
          </a:stretch>
        </p:blipFill>
        <p:spPr>
          <a:xfrm>
            <a:off x="548640" y="1371600"/>
            <a:ext cx="11091672" cy="2642616"/>
          </a:xfrm>
          <a:prstGeom prst="rect">
            <a:avLst/>
          </a:prstGeom>
        </p:spPr>
      </p:pic>
      <p:sp>
        <p:nvSpPr>
          <p:cNvPr id="4" name="stat-0"/>
          <p:cNvSpPr/>
          <p:nvPr/>
        </p:nvSpPr>
        <p:spPr>
          <a:xfrm>
            <a:off x="548640" y="4251960"/>
            <a:ext cx="2651760" cy="1965960"/>
          </a:xfrm>
          <a:prstGeom prst="roundRect">
            <a:avLst>
              <a:gd name="adj" fmla="val 5581"/>
            </a:avLst>
          </a:prstGeom>
          <a:solidFill>
            <a:schemeClr val="bg2"/>
          </a:solidFill>
          <a:ln/>
        </p:spPr>
      </p:sp>
      <p:sp>
        <p:nvSpPr>
          <p:cNvPr id="5" name="Text 2"/>
          <p:cNvSpPr txBox="1"/>
          <p:nvPr/>
        </p:nvSpPr>
        <p:spPr>
          <a:xfrm>
            <a:off x="777240" y="4389120"/>
            <a:ext cx="2194560" cy="82296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1,930</a:t>
            </a:r>
            <a:endParaRPr lang="en-US" sz="3800" dirty="0"/>
          </a:p>
        </p:txBody>
      </p:sp>
      <p:sp>
        <p:nvSpPr>
          <p:cNvPr id="6" name="Text 3"/>
          <p:cNvSpPr txBox="1"/>
          <p:nvPr/>
        </p:nvSpPr>
        <p:spPr>
          <a:xfrm>
            <a:off x="777240" y="5257800"/>
            <a:ext cx="2240280" cy="868680"/>
          </a:xfrm>
          <a:prstGeom prst="rect">
            <a:avLst/>
          </a:prstGeom>
          <a:noFill/>
          <a:ln/>
        </p:spPr>
        <p:txBody>
          <a:bodyPr wrap="square" lIns="0" tIns="0" rIns="0" bIns="0" rtlCol="0" anchor="t"/>
          <a:lstStyle/>
          <a:p>
            <a:pPr marL="0" indent="0">
              <a:buNone/>
            </a:pPr>
            <a:r>
              <a:rPr lang="en-US" sz="1300" dirty="0">
                <a:solidFill>
                  <a:schemeClr val="tx2"/>
                </a:solidFill>
              </a:rPr>
              <a:t>condition number of the 256×256 blur matrix</a:t>
            </a:r>
            <a:endParaRPr lang="en-US" sz="1300" dirty="0"/>
          </a:p>
        </p:txBody>
      </p:sp>
      <p:sp>
        <p:nvSpPr>
          <p:cNvPr id="7" name="stat-1"/>
          <p:cNvSpPr/>
          <p:nvPr/>
        </p:nvSpPr>
        <p:spPr>
          <a:xfrm>
            <a:off x="3364992" y="4251960"/>
            <a:ext cx="2651760" cy="1965960"/>
          </a:xfrm>
          <a:prstGeom prst="roundRect">
            <a:avLst>
              <a:gd name="adj" fmla="val 5581"/>
            </a:avLst>
          </a:prstGeom>
          <a:solidFill>
            <a:schemeClr val="bg2"/>
          </a:solidFill>
          <a:ln/>
        </p:spPr>
      </p:sp>
      <p:sp>
        <p:nvSpPr>
          <p:cNvPr id="8" name="Text 5"/>
          <p:cNvSpPr txBox="1"/>
          <p:nvPr/>
        </p:nvSpPr>
        <p:spPr>
          <a:xfrm>
            <a:off x="3593592" y="4389120"/>
            <a:ext cx="2194560" cy="82296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119</a:t>
            </a:r>
            <a:endParaRPr lang="en-US" sz="3800" dirty="0"/>
          </a:p>
        </p:txBody>
      </p:sp>
      <p:sp>
        <p:nvSpPr>
          <p:cNvPr id="9" name="Text 6"/>
          <p:cNvSpPr txBox="1"/>
          <p:nvPr/>
        </p:nvSpPr>
        <p:spPr>
          <a:xfrm>
            <a:off x="3593592" y="5257800"/>
            <a:ext cx="2240280" cy="868680"/>
          </a:xfrm>
          <a:prstGeom prst="rect">
            <a:avLst/>
          </a:prstGeom>
          <a:noFill/>
          <a:ln/>
        </p:spPr>
        <p:txBody>
          <a:bodyPr wrap="square" lIns="0" tIns="0" rIns="0" bIns="0" rtlCol="0" anchor="t"/>
          <a:lstStyle/>
          <a:p>
            <a:pPr marL="0" indent="0">
              <a:buNone/>
            </a:pPr>
            <a:r>
              <a:rPr lang="en-US" sz="1300" dirty="0">
                <a:solidFill>
                  <a:schemeClr val="tx2"/>
                </a:solidFill>
              </a:rPr>
              <a:t>error after plain inverse with noise 0.5 (blurred input: 30)</a:t>
            </a:r>
            <a:endParaRPr lang="en-US" sz="1300" dirty="0"/>
          </a:p>
        </p:txBody>
      </p:sp>
      <p:sp>
        <p:nvSpPr>
          <p:cNvPr id="10" name="stat-2"/>
          <p:cNvSpPr/>
          <p:nvPr/>
        </p:nvSpPr>
        <p:spPr>
          <a:xfrm>
            <a:off x="6181344" y="4251960"/>
            <a:ext cx="2651760" cy="1965960"/>
          </a:xfrm>
          <a:prstGeom prst="roundRect">
            <a:avLst>
              <a:gd name="adj" fmla="val 5581"/>
            </a:avLst>
          </a:prstGeom>
          <a:solidFill>
            <a:schemeClr val="bg2"/>
          </a:solidFill>
          <a:ln/>
        </p:spPr>
      </p:sp>
      <p:sp>
        <p:nvSpPr>
          <p:cNvPr id="11" name="Text 8"/>
          <p:cNvSpPr txBox="1"/>
          <p:nvPr/>
        </p:nvSpPr>
        <p:spPr>
          <a:xfrm>
            <a:off x="6409944" y="4389120"/>
            <a:ext cx="2194560" cy="82296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8.2</a:t>
            </a:r>
            <a:endParaRPr lang="en-US" sz="3800" dirty="0"/>
          </a:p>
        </p:txBody>
      </p:sp>
      <p:sp>
        <p:nvSpPr>
          <p:cNvPr id="12" name="Text 9"/>
          <p:cNvSpPr txBox="1"/>
          <p:nvPr/>
        </p:nvSpPr>
        <p:spPr>
          <a:xfrm>
            <a:off x="6409944" y="5257800"/>
            <a:ext cx="2240280" cy="868680"/>
          </a:xfrm>
          <a:prstGeom prst="rect">
            <a:avLst/>
          </a:prstGeom>
          <a:noFill/>
          <a:ln/>
        </p:spPr>
        <p:txBody>
          <a:bodyPr wrap="square" lIns="0" tIns="0" rIns="0" bIns="0" rtlCol="0" anchor="t"/>
          <a:lstStyle/>
          <a:p>
            <a:pPr marL="0" indent="0">
              <a:buNone/>
            </a:pPr>
            <a:r>
              <a:rPr lang="en-US" sz="1300" dirty="0">
                <a:solidFill>
                  <a:schemeClr val="tx2"/>
                </a:solidFill>
              </a:rPr>
              <a:t>error with ridge, λ = 0.001 (best case, chosen using the true image)</a:t>
            </a:r>
            <a:endParaRPr lang="en-US" sz="1300" dirty="0"/>
          </a:p>
        </p:txBody>
      </p:sp>
      <p:sp>
        <p:nvSpPr>
          <p:cNvPr id="13" name="stat-3"/>
          <p:cNvSpPr/>
          <p:nvPr/>
        </p:nvSpPr>
        <p:spPr>
          <a:xfrm>
            <a:off x="8997696" y="4251960"/>
            <a:ext cx="2651760" cy="1965960"/>
          </a:xfrm>
          <a:prstGeom prst="roundRect">
            <a:avLst>
              <a:gd name="adj" fmla="val 5581"/>
            </a:avLst>
          </a:prstGeom>
          <a:solidFill>
            <a:schemeClr val="bg2"/>
          </a:solidFill>
          <a:ln/>
        </p:spPr>
      </p:sp>
      <p:sp>
        <p:nvSpPr>
          <p:cNvPr id="14" name="Text 11"/>
          <p:cNvSpPr txBox="1"/>
          <p:nvPr/>
        </p:nvSpPr>
        <p:spPr>
          <a:xfrm>
            <a:off x="9226296" y="4389120"/>
            <a:ext cx="2194560" cy="822960"/>
          </a:xfrm>
          <a:prstGeom prst="rect">
            <a:avLst/>
          </a:prstGeom>
          <a:noFill/>
          <a:ln/>
        </p:spPr>
        <p:txBody>
          <a:bodyPr wrap="square" lIns="0" tIns="0" rIns="0" bIns="0" rtlCol="0" anchor="t"/>
          <a:lstStyle/>
          <a:p>
            <a:pPr marL="0" indent="0">
              <a:buNone/>
            </a:pPr>
            <a:r>
              <a:rPr lang="en-US" sz="3800" b="1" dirty="0">
                <a:solidFill>
                  <a:schemeClr val="accent1"/>
                </a:solidFill>
                <a:latin typeface="Cambria" pitchFamily="34" charset="0"/>
                <a:ea typeface="Cambria" pitchFamily="34" charset="-122"/>
                <a:cs typeface="Cambria" pitchFamily="34" charset="-120"/>
              </a:rPr>
              <a:t>~1,400×</a:t>
            </a:r>
            <a:endParaRPr lang="en-US" sz="3800" dirty="0"/>
          </a:p>
        </p:txBody>
      </p:sp>
      <p:sp>
        <p:nvSpPr>
          <p:cNvPr id="15" name="Text 12"/>
          <p:cNvSpPr txBox="1"/>
          <p:nvPr/>
        </p:nvSpPr>
        <p:spPr>
          <a:xfrm>
            <a:off x="9226296" y="5257800"/>
            <a:ext cx="2240280" cy="868680"/>
          </a:xfrm>
          <a:prstGeom prst="rect">
            <a:avLst/>
          </a:prstGeom>
          <a:noFill/>
          <a:ln/>
        </p:spPr>
        <p:txBody>
          <a:bodyPr wrap="square" lIns="0" tIns="0" rIns="0" bIns="0" rtlCol="0" anchor="t"/>
          <a:lstStyle/>
          <a:p>
            <a:pPr marL="0" indent="0">
              <a:buNone/>
            </a:pPr>
            <a:r>
              <a:rPr lang="en-US" sz="1300" dirty="0">
                <a:solidFill>
                  <a:schemeClr val="tx2"/>
                </a:solidFill>
              </a:rPr>
              <a:t>slower: per-pixel loop vs one NumPy product on a 128×128 image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6766560" cy="1554480"/>
          </a:xfrm>
          <a:prstGeom prst="rect">
            <a:avLst/>
          </a:prstGeom>
          <a:noFill/>
          <a:ln/>
        </p:spPr>
        <p:txBody>
          <a:bodyPr wrap="square" lIns="0" tIns="0" rIns="0" bIns="0" rtlCol="0" anchor="ctr"/>
          <a:lstStyle/>
          <a:p>
            <a:pPr marL="0" indent="0" algn="l">
              <a:buNone/>
            </a:pPr>
            <a:r>
              <a:rPr lang="en-US" sz="4600" b="1" dirty="0">
                <a:solidFill>
                  <a:schemeClr val="bg1"/>
                </a:solidFill>
              </a:rPr>
              <a:t>Takeaway</a:t>
            </a:r>
            <a:endParaRPr lang="en-US" sz="4600" dirty="0"/>
          </a:p>
        </p:txBody>
      </p:sp>
      <p:sp>
        <p:nvSpPr>
          <p:cNvPr id="3" name="Text 1"/>
          <p:cNvSpPr txBox="1"/>
          <p:nvPr/>
        </p:nvSpPr>
        <p:spPr>
          <a:xfrm>
            <a:off x="548640" y="3291840"/>
            <a:ext cx="6766560" cy="1188720"/>
          </a:xfrm>
          <a:prstGeom prst="rect">
            <a:avLst/>
          </a:prstGeom>
          <a:noFill/>
          <a:ln/>
        </p:spPr>
        <p:txBody>
          <a:bodyPr wrap="square" lIns="0" tIns="0" rIns="0" bIns="0" rtlCol="0" anchor="t"/>
          <a:lstStyle/>
          <a:p>
            <a:pPr marL="0" indent="0">
              <a:buNone/>
            </a:pPr>
            <a:r>
              <a:rPr lang="en-US" sz="2200" dirty="0">
                <a:solidFill>
                  <a:schemeClr val="bg1"/>
                </a:solidFill>
              </a:rPr>
              <a:t>A photo is a matrix. The determinant tells you whether an edit can be undone; the condition number tells you how safely.</a:t>
            </a:r>
            <a:endParaRPr lang="en-US" sz="2200" dirty="0"/>
          </a:p>
        </p:txBody>
      </p:sp>
      <p:sp>
        <p:nvSpPr>
          <p:cNvPr id="4" name="Text 2"/>
          <p:cNvSpPr txBox="1"/>
          <p:nvPr/>
        </p:nvSpPr>
        <p:spPr>
          <a:xfrm>
            <a:off x="548640" y="4663440"/>
            <a:ext cx="6766560" cy="1005840"/>
          </a:xfrm>
          <a:prstGeom prst="rect">
            <a:avLst/>
          </a:prstGeom>
          <a:noFill/>
          <a:ln/>
        </p:spPr>
        <p:txBody>
          <a:bodyPr wrap="square" lIns="0" tIns="0" rIns="0" bIns="0" rtlCol="0" anchor="t"/>
          <a:lstStyle/>
          <a:p>
            <a:pPr marL="0" indent="0">
              <a:buNone/>
            </a:pPr>
            <a:r>
              <a:rPr lang="en-US" sz="1400" dirty="0">
                <a:solidFill>
                  <a:schemeClr val="bg2"/>
                </a:solidFill>
              </a:rPr>
              <a:t>Streamlit app: colour, geometry, convolution and deblurring modes on your own photo.</a:t>
            </a:r>
            <a:endParaRPr lang="en-US" sz="1400" dirty="0"/>
          </a:p>
          <a:p>
            <a:pPr marL="0" indent="0">
              <a:buNone/>
            </a:pPr>
            <a:r>
              <a:rPr lang="en-US" sz="1400" dirty="0">
                <a:solidFill>
                  <a:schemeClr val="bg2"/>
                </a:solidFill>
              </a:rPr>
              <a:t>Limits: deblurring on 16×16 grayscale, photos shrunk to 384 px, ridge λ tuned against the true image.</a:t>
            </a:r>
            <a:endParaRPr lang="en-US" sz="1400" dirty="0"/>
          </a:p>
        </p:txBody>
      </p:sp>
      <p:sp>
        <p:nvSpPr>
          <p:cNvPr id="5" name="Text 3"/>
          <p:cNvSpPr txBox="1"/>
          <p:nvPr/>
        </p:nvSpPr>
        <p:spPr>
          <a:xfrm>
            <a:off x="548640" y="5943600"/>
            <a:ext cx="6766560" cy="365760"/>
          </a:xfrm>
          <a:prstGeom prst="rect">
            <a:avLst/>
          </a:prstGeom>
          <a:noFill/>
          <a:ln/>
        </p:spPr>
        <p:txBody>
          <a:bodyPr wrap="square" lIns="0" tIns="0" rIns="0" bIns="0" rtlCol="0" anchor="t"/>
          <a:lstStyle/>
          <a:p>
            <a:pPr marL="0" indent="0">
              <a:buNone/>
            </a:pPr>
            <a:r>
              <a:rPr lang="en-US" sz="1400" b="1" dirty="0">
                <a:solidFill>
                  <a:schemeClr val="accent5"/>
                </a:solidFill>
              </a:rPr>
              <a:t>github.com/tanayshah-gh/linear-algebra-photo-studio</a:t>
            </a:r>
            <a:endParaRPr lang="en-US" sz="1400" dirty="0"/>
          </a:p>
        </p:txBody>
      </p:sp>
      <p:sp>
        <p:nvSpPr>
          <p:cNvPr id="6" name="repo-card"/>
          <p:cNvSpPr/>
          <p:nvPr/>
        </p:nvSpPr>
        <p:spPr>
          <a:xfrm>
            <a:off x="8138160" y="1463040"/>
            <a:ext cx="3502152" cy="4754880"/>
          </a:xfrm>
          <a:prstGeom prst="roundRect">
            <a:avLst>
              <a:gd name="adj" fmla="val 3133"/>
            </a:avLst>
          </a:prstGeom>
          <a:solidFill>
            <a:schemeClr val="tx2"/>
          </a:solidFill>
          <a:ln/>
        </p:spPr>
      </p:sp>
      <p:sp>
        <p:nvSpPr>
          <p:cNvPr id="7" name="Text 5"/>
          <p:cNvSpPr txBox="1"/>
          <p:nvPr/>
        </p:nvSpPr>
        <p:spPr>
          <a:xfrm>
            <a:off x="8412480" y="1691640"/>
            <a:ext cx="3017520" cy="365760"/>
          </a:xfrm>
          <a:prstGeom prst="rect">
            <a:avLst/>
          </a:prstGeom>
          <a:noFill/>
          <a:ln/>
        </p:spPr>
        <p:txBody>
          <a:bodyPr wrap="square" lIns="0" tIns="0" rIns="0" bIns="0" rtlCol="0" anchor="t"/>
          <a:lstStyle/>
          <a:p>
            <a:pPr marL="0" indent="0">
              <a:buNone/>
            </a:pPr>
            <a:r>
              <a:rPr lang="en-US" sz="1800" b="1" dirty="0">
                <a:solidFill>
                  <a:schemeClr val="bg1"/>
                </a:solidFill>
                <a:latin typeface="Cambria" pitchFamily="34" charset="0"/>
                <a:ea typeface="Cambria" pitchFamily="34" charset="-122"/>
                <a:cs typeface="Cambria" pitchFamily="34" charset="-120"/>
              </a:rPr>
              <a:t>In the repository</a:t>
            </a:r>
            <a:endParaRPr lang="en-US" sz="1800" dirty="0"/>
          </a:p>
        </p:txBody>
      </p:sp>
      <p:sp>
        <p:nvSpPr>
          <p:cNvPr id="8" name="Text 6"/>
          <p:cNvSpPr txBox="1"/>
          <p:nvPr/>
        </p:nvSpPr>
        <p:spPr>
          <a:xfrm>
            <a:off x="8412480" y="2240280"/>
            <a:ext cx="3017520" cy="3840480"/>
          </a:xfrm>
          <a:prstGeom prst="rect">
            <a:avLst/>
          </a:prstGeom>
          <a:noFill/>
          <a:ln/>
        </p:spPr>
        <p:txBody>
          <a:bodyPr wrap="square" lIns="0" tIns="0" rIns="0" bIns="0" rtlCol="0" anchor="t"/>
          <a:lstStyle/>
          <a:p>
            <a:pPr marL="0" indent="0">
              <a:spcAft>
                <a:spcPts val="400"/>
              </a:spcAft>
              <a:buNone/>
            </a:pPr>
            <a:r>
              <a:rPr lang="en-US" sz="1200" b="1" dirty="0">
                <a:solidFill>
                  <a:schemeClr val="accent5"/>
                </a:solidFill>
              </a:rPr>
              <a:t>matrix_ops.py</a:t>
            </a:r>
            <a:endParaRPr lang="en-US" sz="1200" dirty="0"/>
          </a:p>
          <a:p>
            <a:pPr marL="0" indent="0">
              <a:spcAft>
                <a:spcPts val="400"/>
              </a:spcAft>
              <a:buNone/>
            </a:pPr>
            <a:r>
              <a:rPr lang="en-US" sz="1200" dirty="0">
                <a:solidFill>
                  <a:schemeClr val="bg2"/>
                </a:solidFill>
              </a:rPr>
              <a:t>multiply, determinant, inverse, cond</a:t>
            </a:r>
            <a:endParaRPr lang="en-US" sz="1200" dirty="0"/>
          </a:p>
          <a:p>
            <a:pPr marL="0" indent="0">
              <a:spcAft>
                <a:spcPts val="400"/>
              </a:spcAft>
              <a:buNone/>
            </a:pPr>
            <a:r>
              <a:rPr lang="en-US" sz="1200" b="1" dirty="0">
                <a:solidFill>
                  <a:schemeClr val="accent5"/>
                </a:solidFill>
              </a:rPr>
              <a:t>color_ / geometric_ / convolution_filters.py</a:t>
            </a:r>
            <a:endParaRPr lang="en-US" sz="1200" dirty="0"/>
          </a:p>
          <a:p>
            <a:pPr marL="0" indent="0">
              <a:spcAft>
                <a:spcPts val="400"/>
              </a:spcAft>
              <a:buNone/>
            </a:pPr>
            <a:r>
              <a:rPr lang="en-US" sz="1200" dirty="0">
                <a:solidFill>
                  <a:schemeClr val="bg2"/>
                </a:solidFill>
              </a:rPr>
              <a:t>the three kinds of edit</a:t>
            </a:r>
            <a:endParaRPr lang="en-US" sz="1200" dirty="0"/>
          </a:p>
          <a:p>
            <a:pPr marL="0" indent="0">
              <a:spcAft>
                <a:spcPts val="400"/>
              </a:spcAft>
              <a:buNone/>
            </a:pPr>
            <a:r>
              <a:rPr lang="en-US" sz="1200" b="1" dirty="0">
                <a:solidFill>
                  <a:schemeClr val="accent5"/>
                </a:solidFill>
              </a:rPr>
              <a:t>inversion_recovery.py, benchmark.py</a:t>
            </a:r>
            <a:endParaRPr lang="en-US" sz="1200" dirty="0"/>
          </a:p>
          <a:p>
            <a:pPr marL="0" indent="0">
              <a:spcAft>
                <a:spcPts val="400"/>
              </a:spcAft>
              <a:buNone/>
            </a:pPr>
            <a:r>
              <a:rPr lang="en-US" sz="1200" dirty="0">
                <a:solidFill>
                  <a:schemeClr val="bg2"/>
                </a:solidFill>
              </a:rPr>
              <a:t>recovery, noise, deblurring, speed</a:t>
            </a:r>
            <a:endParaRPr lang="en-US" sz="1200" dirty="0"/>
          </a:p>
          <a:p>
            <a:pPr marL="0" indent="0">
              <a:spcAft>
                <a:spcPts val="400"/>
              </a:spcAft>
              <a:buNone/>
            </a:pPr>
            <a:r>
              <a:rPr lang="en-US" sz="1200" b="1" dirty="0">
                <a:solidFill>
                  <a:schemeClr val="accent5"/>
                </a:solidFill>
              </a:rPr>
              <a:t>app.py, app_logic.py</a:t>
            </a:r>
            <a:endParaRPr lang="en-US" sz="1200" dirty="0"/>
          </a:p>
          <a:p>
            <a:pPr marL="0" indent="0">
              <a:spcAft>
                <a:spcPts val="400"/>
              </a:spcAft>
              <a:buNone/>
            </a:pPr>
            <a:r>
              <a:rPr lang="en-US" sz="1200" dirty="0">
                <a:solidFill>
                  <a:schemeClr val="bg2"/>
                </a:solidFill>
              </a:rPr>
              <a:t>Streamlit interface and logic</a:t>
            </a:r>
            <a:endParaRPr lang="en-US" sz="1200" dirty="0"/>
          </a:p>
          <a:p>
            <a:pPr marL="0" indent="0">
              <a:spcAft>
                <a:spcPts val="400"/>
              </a:spcAft>
              <a:buNone/>
            </a:pPr>
            <a:r>
              <a:rPr lang="en-US" sz="1200" b="1" dirty="0">
                <a:solidFill>
                  <a:schemeClr val="accent5"/>
                </a:solidFill>
              </a:rPr>
              <a:t>tests/</a:t>
            </a:r>
            <a:endParaRPr lang="en-US" sz="1200" dirty="0"/>
          </a:p>
          <a:p>
            <a:pPr marL="0" indent="0">
              <a:spcAft>
                <a:spcPts val="400"/>
              </a:spcAft>
              <a:buNone/>
            </a:pPr>
            <a:r>
              <a:rPr lang="en-US" sz="1200" dirty="0">
                <a:solidFill>
                  <a:schemeClr val="bg2"/>
                </a:solidFill>
              </a:rPr>
              <a:t>22 tests</a:t>
            </a:r>
            <a:endParaRPr lang="en-US" sz="1200" dirty="0"/>
          </a:p>
          <a:p>
            <a:pPr marL="0" indent="0">
              <a:spcAft>
                <a:spcPts val="400"/>
              </a:spcAft>
              <a:buNone/>
            </a:pPr>
            <a:r>
              <a:rPr lang="en-US" sz="1200" b="1" dirty="0">
                <a:solidFill>
                  <a:schemeClr val="accent5"/>
                </a:solidFill>
              </a:rPr>
              <a:t>Run</a:t>
            </a:r>
            <a:endParaRPr lang="en-US" sz="1200" dirty="0"/>
          </a:p>
          <a:p>
            <a:pPr marL="0" indent="0">
              <a:spcAft>
                <a:spcPts val="400"/>
              </a:spcAft>
              <a:buNone/>
            </a:pPr>
            <a:r>
              <a:rPr lang="en-US" sz="1200" dirty="0">
                <a:solidFill>
                  <a:schemeClr val="bg2"/>
                </a:solidFill>
              </a:rPr>
              <a:t>pip install -r requirements.txt, then streamlit run app.py</a:t>
            </a:r>
            <a:endParaRPr lang="en-US" sz="1200" dirty="0"/>
          </a:p>
        </p:txBody>
      </p:sp>
    </p:spTree>
  </p:cSld>
  <p:clrMapOvr>
    <a:masterClrMapping/>
  </p:clrMapOvr>
</p:sld>
</file>

<file path=ppt/theme/theme1.xml><?xml version="1.0" encoding="utf-8"?>
<a:theme xmlns:a="http://schemas.openxmlformats.org/drawingml/2006/main" name="PhotoStudio">
  <a:themeElements>
    <a:clrScheme name="PhotoStudio">
      <a:dk1>
        <a:srgbClr val="171A21"/>
      </a:dk1>
      <a:lt1>
        <a:srgbClr val="FFFFFF"/>
      </a:lt1>
      <a:dk2>
        <a:srgbClr val="2B3040"/>
      </a:dk2>
      <a:lt2>
        <a:srgbClr val="F4F5F8"/>
      </a:lt2>
      <a:accent1>
        <a:srgbClr val="F26B21"/>
      </a:accent1>
      <a:accent2>
        <a:srgbClr val="1E9E8F"/>
      </a:accent2>
      <a:accent3>
        <a:srgbClr val="D64545"/>
      </a:accent3>
      <a:accent4>
        <a:srgbClr val="5B6B8C"/>
      </a:accent4>
      <a:accent5>
        <a:srgbClr val="F2B134"/>
      </a:accent5>
      <a:accent6>
        <a:srgbClr val="6B7385"/>
      </a:accent6>
      <a:hlink>
        <a:srgbClr val="F26B21"/>
      </a:hlink>
      <a:folHlink>
        <a:srgbClr val="6B7385"/>
      </a:folHlink>
    </a:clrScheme>
    <a:fontScheme name="PhotoStud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1166</Words>
  <Application>Microsoft Office PowerPoint</Application>
  <PresentationFormat>Widescreen</PresentationFormat>
  <Paragraphs>130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PhotoStudio</vt:lpstr>
      <vt:lpstr>Linear Algebra Photo Studio</vt:lpstr>
      <vt:lpstr>A photo is a matrix; every edit is a matrix product</vt:lpstr>
      <vt:lpstr>Whether an inverse is safe depends on the matrix</vt:lpstr>
      <vt:lpstr>Three kinds of edit, all matrix operations</vt:lpstr>
      <vt:lpstr>Undoing an edit: four outcomes</vt:lpstr>
      <vt:lpstr>Deblurring needs regularisation; hand-written code costs speed</vt:lpstr>
      <vt:lpstr>Takeaway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tanay shah</cp:lastModifiedBy>
  <cp:revision>2</cp:revision>
  <dcterms:created xsi:type="dcterms:W3CDTF">2026-10-09T05:14:13Z</dcterms:created>
  <dcterms:modified xsi:type="dcterms:W3CDTF">2026-10-09T14:46:44Z</dcterms:modified>
</cp:coreProperties>
</file>